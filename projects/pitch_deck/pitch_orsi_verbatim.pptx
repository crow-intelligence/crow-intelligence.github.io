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727"/>
        </a:solidFill>
        <a:effectLst/>
      </p:bgPr>
    </p:bg>
    <p:spTree>
      <p:nvGrpSpPr>
        <p:cNvPr id="1" name=""/>
        <p:cNvGrpSpPr/>
        <p:nvPr/>
      </p:nvGrpSpPr>
      <p:grpSpPr/>
      <p:cxnSp>
        <p:nvCxnSpPr>
          <p:cNvPr id="2" name="Connector 1"/>
          <p:cNvCxnSpPr/>
          <p:nvPr/>
        </p:nvCxnSpPr>
        <p:spPr>
          <a:xfrm>
            <a:off x="640080" y="777240"/>
            <a:ext cx="457200" cy="0"/>
          </a:xfrm>
          <a:prstGeom prst="line">
            <a:avLst/>
          </a:prstGeom>
          <a:ln w="31750">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868680" y="2468880"/>
            <a:ext cx="10972800" cy="1463040"/>
          </a:xfrm>
          <a:prstGeom prst="rect">
            <a:avLst/>
          </a:prstGeom>
          <a:noFill/>
        </p:spPr>
        <p:txBody>
          <a:bodyPr wrap="square" lIns="0" rIns="0" tIns="0" bIns="0" anchor="t">
            <a:spAutoFit/>
          </a:bodyPr>
          <a:lstStyle/>
          <a:p>
            <a:pPr algn="l">
              <a:lnSpc>
                <a:spcPct val="105000"/>
              </a:lnSpc>
            </a:pPr>
            <a:r>
              <a:rPr sz="5800" b="0" i="0">
                <a:solidFill>
                  <a:srgbClr val="FFFFFF"/>
                </a:solidFill>
                <a:latin typeface="Calibri Light"/>
              </a:rPr>
              <a:t>Modeling the Mind of the Market</a:t>
            </a:r>
          </a:p>
        </p:txBody>
      </p:sp>
      <p:cxnSp>
        <p:nvCxnSpPr>
          <p:cNvPr id="4" name="Connector 3"/>
          <p:cNvCxnSpPr/>
          <p:nvPr/>
        </p:nvCxnSpPr>
        <p:spPr>
          <a:xfrm>
            <a:off x="914400" y="4160520"/>
            <a:ext cx="914400" cy="0"/>
          </a:xfrm>
          <a:prstGeom prst="line">
            <a:avLst/>
          </a:prstGeom>
          <a:ln w="31750">
            <a:solidFill>
              <a:srgbClr val="C9A22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434840"/>
            <a:ext cx="10515600" cy="548640"/>
          </a:xfrm>
          <a:prstGeom prst="rect">
            <a:avLst/>
          </a:prstGeom>
          <a:noFill/>
        </p:spPr>
        <p:txBody>
          <a:bodyPr wrap="square" lIns="0" rIns="0" tIns="0" bIns="0" anchor="t">
            <a:spAutoFit/>
          </a:bodyPr>
          <a:lstStyle/>
          <a:p>
            <a:pPr algn="l"/>
            <a:r>
              <a:rPr sz="2000" b="0" i="0">
                <a:solidFill>
                  <a:srgbClr val="D9DFE6"/>
                </a:solidFill>
                <a:latin typeface="Calibri Light"/>
              </a:rPr>
              <a:t>A 5-dimensional narrative engine for institutional risk desks.</a:t>
            </a:r>
          </a:p>
        </p:txBody>
      </p:sp>
      <p:sp>
        <p:nvSpPr>
          <p:cNvPr id="6" name="TextBox 5"/>
          <p:cNvSpPr txBox="1"/>
          <p:nvPr/>
        </p:nvSpPr>
        <p:spPr>
          <a:xfrm>
            <a:off x="868680" y="6263640"/>
            <a:ext cx="7315200" cy="274320"/>
          </a:xfrm>
          <a:prstGeom prst="rect">
            <a:avLst/>
          </a:prstGeom>
          <a:noFill/>
        </p:spPr>
        <p:txBody>
          <a:bodyPr wrap="square" lIns="0" rIns="0" tIns="0" bIns="0" anchor="t">
            <a:spAutoFit/>
          </a:bodyPr>
          <a:lstStyle/>
          <a:p>
            <a:pPr algn="l"/>
            <a:r>
              <a:rPr sz="1100" b="1" i="0">
                <a:solidFill>
                  <a:srgbClr val="C9A227"/>
                </a:solidFill>
                <a:latin typeface="Calibri"/>
              </a:rPr>
              <a:t>Pre-Seed €300,000.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PROBLEM</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02 / 14</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914400"/>
          </a:xfrm>
          <a:prstGeom prst="rect">
            <a:avLst/>
          </a:prstGeom>
          <a:noFill/>
        </p:spPr>
        <p:txBody>
          <a:bodyPr wrap="square" lIns="0" rIns="0" tIns="0" bIns="0" anchor="t">
            <a:spAutoFit/>
          </a:bodyPr>
          <a:lstStyle/>
          <a:p>
            <a:pPr algn="l"/>
            <a:r>
              <a:rPr sz="4400" b="0" i="0">
                <a:solidFill>
                  <a:srgbClr val="0C1727"/>
                </a:solidFill>
                <a:latin typeface="Calibri Light"/>
              </a:rPr>
              <a:t>The Data Parity Crisis</a:t>
            </a:r>
          </a:p>
        </p:txBody>
      </p:sp>
      <p:sp>
        <p:nvSpPr>
          <p:cNvPr id="7" name="TextBox 6"/>
          <p:cNvSpPr txBox="1"/>
          <p:nvPr/>
        </p:nvSpPr>
        <p:spPr>
          <a:xfrm>
            <a:off x="640080" y="2468880"/>
            <a:ext cx="640080" cy="365760"/>
          </a:xfrm>
          <a:prstGeom prst="rect">
            <a:avLst/>
          </a:prstGeom>
          <a:noFill/>
        </p:spPr>
        <p:txBody>
          <a:bodyPr wrap="square" lIns="0" rIns="0" tIns="0" bIns="0" anchor="t">
            <a:spAutoFit/>
          </a:bodyPr>
          <a:lstStyle/>
          <a:p>
            <a:pPr algn="l"/>
            <a:r>
              <a:rPr sz="1000" b="1" i="0">
                <a:solidFill>
                  <a:srgbClr val="C9A227"/>
                </a:solidFill>
                <a:latin typeface="Consolas"/>
              </a:rPr>
              <a:t>01</a:t>
            </a:r>
          </a:p>
        </p:txBody>
      </p:sp>
      <p:sp>
        <p:nvSpPr>
          <p:cNvPr id="8" name="TextBox 7"/>
          <p:cNvSpPr txBox="1"/>
          <p:nvPr/>
        </p:nvSpPr>
        <p:spPr>
          <a:xfrm>
            <a:off x="1280160" y="2432304"/>
            <a:ext cx="3657600" cy="365760"/>
          </a:xfrm>
          <a:prstGeom prst="rect">
            <a:avLst/>
          </a:prstGeom>
          <a:noFill/>
        </p:spPr>
        <p:txBody>
          <a:bodyPr wrap="square" lIns="0" rIns="0" tIns="0" bIns="0" anchor="t">
            <a:spAutoFit/>
          </a:bodyPr>
          <a:lstStyle/>
          <a:p>
            <a:pPr algn="l"/>
            <a:r>
              <a:rPr sz="1400" b="1" i="0">
                <a:solidFill>
                  <a:srgbClr val="0C1727"/>
                </a:solidFill>
                <a:latin typeface="Calibri"/>
              </a:rPr>
              <a:t>Commoditized Signals:</a:t>
            </a:r>
          </a:p>
        </p:txBody>
      </p:sp>
      <p:sp>
        <p:nvSpPr>
          <p:cNvPr id="9" name="TextBox 8"/>
          <p:cNvSpPr txBox="1"/>
          <p:nvPr/>
        </p:nvSpPr>
        <p:spPr>
          <a:xfrm>
            <a:off x="4937760" y="2432304"/>
            <a:ext cx="6583680" cy="822960"/>
          </a:xfrm>
          <a:prstGeom prst="rect">
            <a:avLst/>
          </a:prstGeom>
          <a:noFill/>
        </p:spPr>
        <p:txBody>
          <a:bodyPr wrap="square" lIns="0" rIns="0" tIns="0" bIns="0" anchor="t">
            <a:spAutoFit/>
          </a:bodyPr>
          <a:lstStyle/>
          <a:p>
            <a:pPr algn="l">
              <a:lnSpc>
                <a:spcPct val="140000"/>
              </a:lnSpc>
            </a:pPr>
            <a:r>
              <a:rPr sz="1200" b="0" i="0">
                <a:solidFill>
                  <a:srgbClr val="333D4D"/>
                </a:solidFill>
                <a:latin typeface="Calibri"/>
              </a:rPr>
              <a:t>Every major fund buys the same alternative data (Bloomberg, Reuters). When everyone sees the same numbers, alpha decays.</a:t>
            </a:r>
          </a:p>
        </p:txBody>
      </p:sp>
      <p:cxnSp>
        <p:nvCxnSpPr>
          <p:cNvPr id="10" name="Connector 9"/>
          <p:cNvCxnSpPr/>
          <p:nvPr/>
        </p:nvCxnSpPr>
        <p:spPr>
          <a:xfrm>
            <a:off x="640080" y="3337560"/>
            <a:ext cx="10972800" cy="0"/>
          </a:xfrm>
          <a:prstGeom prst="line">
            <a:avLst/>
          </a:prstGeom>
          <a:ln w="5080">
            <a:solidFill>
              <a:srgbClr val="CFD4D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383280"/>
            <a:ext cx="640080" cy="365760"/>
          </a:xfrm>
          <a:prstGeom prst="rect">
            <a:avLst/>
          </a:prstGeom>
          <a:noFill/>
        </p:spPr>
        <p:txBody>
          <a:bodyPr wrap="square" lIns="0" rIns="0" tIns="0" bIns="0" anchor="t">
            <a:spAutoFit/>
          </a:bodyPr>
          <a:lstStyle/>
          <a:p>
            <a:pPr algn="l"/>
            <a:r>
              <a:rPr sz="1000" b="1" i="0">
                <a:solidFill>
                  <a:srgbClr val="C9A227"/>
                </a:solidFill>
                <a:latin typeface="Consolas"/>
              </a:rPr>
              <a:t>02</a:t>
            </a:r>
          </a:p>
        </p:txBody>
      </p:sp>
      <p:sp>
        <p:nvSpPr>
          <p:cNvPr id="12" name="TextBox 11"/>
          <p:cNvSpPr txBox="1"/>
          <p:nvPr/>
        </p:nvSpPr>
        <p:spPr>
          <a:xfrm>
            <a:off x="1280160" y="3346704"/>
            <a:ext cx="3657600" cy="365760"/>
          </a:xfrm>
          <a:prstGeom prst="rect">
            <a:avLst/>
          </a:prstGeom>
          <a:noFill/>
        </p:spPr>
        <p:txBody>
          <a:bodyPr wrap="square" lIns="0" rIns="0" tIns="0" bIns="0" anchor="t">
            <a:spAutoFit/>
          </a:bodyPr>
          <a:lstStyle/>
          <a:p>
            <a:pPr algn="l"/>
            <a:r>
              <a:rPr sz="1400" b="1" i="0">
                <a:solidFill>
                  <a:srgbClr val="0C1727"/>
                </a:solidFill>
                <a:latin typeface="Calibri"/>
              </a:rPr>
              <a:t>Tone-Deaf Metrics:</a:t>
            </a:r>
          </a:p>
        </p:txBody>
      </p:sp>
      <p:sp>
        <p:nvSpPr>
          <p:cNvPr id="13" name="TextBox 12"/>
          <p:cNvSpPr txBox="1"/>
          <p:nvPr/>
        </p:nvSpPr>
        <p:spPr>
          <a:xfrm>
            <a:off x="4937760" y="3346704"/>
            <a:ext cx="6583680" cy="822960"/>
          </a:xfrm>
          <a:prstGeom prst="rect">
            <a:avLst/>
          </a:prstGeom>
          <a:noFill/>
        </p:spPr>
        <p:txBody>
          <a:bodyPr wrap="square" lIns="0" rIns="0" tIns="0" bIns="0" anchor="t">
            <a:spAutoFit/>
          </a:bodyPr>
          <a:lstStyle/>
          <a:p>
            <a:pPr algn="l">
              <a:lnSpc>
                <a:spcPct val="140000"/>
              </a:lnSpc>
            </a:pPr>
            <a:r>
              <a:rPr sz="1200" b="0" i="0">
                <a:solidFill>
                  <a:srgbClr val="333D4D"/>
                </a:solidFill>
                <a:latin typeface="Calibri"/>
              </a:rPr>
              <a:t>Standard NLP sentiment reduces central bank communication to a single number (positive minus negative words).</a:t>
            </a:r>
          </a:p>
        </p:txBody>
      </p:sp>
      <p:cxnSp>
        <p:nvCxnSpPr>
          <p:cNvPr id="14" name="Connector 13"/>
          <p:cNvCxnSpPr/>
          <p:nvPr/>
        </p:nvCxnSpPr>
        <p:spPr>
          <a:xfrm>
            <a:off x="640080" y="4251960"/>
            <a:ext cx="10972800" cy="0"/>
          </a:xfrm>
          <a:prstGeom prst="line">
            <a:avLst/>
          </a:prstGeom>
          <a:ln w="5080">
            <a:solidFill>
              <a:srgbClr val="CFD4D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297680"/>
            <a:ext cx="640080" cy="365760"/>
          </a:xfrm>
          <a:prstGeom prst="rect">
            <a:avLst/>
          </a:prstGeom>
          <a:noFill/>
        </p:spPr>
        <p:txBody>
          <a:bodyPr wrap="square" lIns="0" rIns="0" tIns="0" bIns="0" anchor="t">
            <a:spAutoFit/>
          </a:bodyPr>
          <a:lstStyle/>
          <a:p>
            <a:pPr algn="l"/>
            <a:r>
              <a:rPr sz="1000" b="1" i="0">
                <a:solidFill>
                  <a:srgbClr val="C9A227"/>
                </a:solidFill>
                <a:latin typeface="Consolas"/>
              </a:rPr>
              <a:t>03</a:t>
            </a:r>
          </a:p>
        </p:txBody>
      </p:sp>
      <p:sp>
        <p:nvSpPr>
          <p:cNvPr id="16" name="TextBox 15"/>
          <p:cNvSpPr txBox="1"/>
          <p:nvPr/>
        </p:nvSpPr>
        <p:spPr>
          <a:xfrm>
            <a:off x="1280160" y="4261104"/>
            <a:ext cx="3657600" cy="365760"/>
          </a:xfrm>
          <a:prstGeom prst="rect">
            <a:avLst/>
          </a:prstGeom>
          <a:noFill/>
        </p:spPr>
        <p:txBody>
          <a:bodyPr wrap="square" lIns="0" rIns="0" tIns="0" bIns="0" anchor="t">
            <a:spAutoFit/>
          </a:bodyPr>
          <a:lstStyle/>
          <a:p>
            <a:pPr algn="l"/>
            <a:r>
              <a:rPr sz="1400" b="1" i="0">
                <a:solidFill>
                  <a:srgbClr val="0C1727"/>
                </a:solidFill>
                <a:latin typeface="Calibri"/>
              </a:rPr>
              <a:t>The Blindspot:</a:t>
            </a:r>
          </a:p>
        </p:txBody>
      </p:sp>
      <p:sp>
        <p:nvSpPr>
          <p:cNvPr id="17" name="TextBox 16"/>
          <p:cNvSpPr txBox="1"/>
          <p:nvPr/>
        </p:nvSpPr>
        <p:spPr>
          <a:xfrm>
            <a:off x="4937760" y="4261104"/>
            <a:ext cx="6583680" cy="822960"/>
          </a:xfrm>
          <a:prstGeom prst="rect">
            <a:avLst/>
          </a:prstGeom>
          <a:noFill/>
        </p:spPr>
        <p:txBody>
          <a:bodyPr wrap="square" lIns="0" rIns="0" tIns="0" bIns="0" anchor="t">
            <a:spAutoFit/>
          </a:bodyPr>
          <a:lstStyle/>
          <a:p>
            <a:pPr algn="l">
              <a:lnSpc>
                <a:spcPct val="140000"/>
              </a:lnSpc>
            </a:pPr>
            <a:r>
              <a:rPr sz="1200" b="0" i="0">
                <a:solidFill>
                  <a:srgbClr val="333D4D"/>
                </a:solidFill>
                <a:latin typeface="Calibri"/>
              </a:rPr>
              <a:t>Sentiment reads tone, but it is structurally blind. It completely misses the internal logic, structural frameworks, and central narratives that underly policy pivots.</a:t>
            </a:r>
          </a:p>
        </p:txBody>
      </p:sp>
      <p:cxnSp>
        <p:nvCxnSpPr>
          <p:cNvPr id="18" name="Connector 17"/>
          <p:cNvCxnSpPr/>
          <p:nvPr/>
        </p:nvCxnSpPr>
        <p:spPr>
          <a:xfrm>
            <a:off x="640080" y="5166360"/>
            <a:ext cx="10972800" cy="0"/>
          </a:xfrm>
          <a:prstGeom prst="line">
            <a:avLst/>
          </a:prstGeom>
          <a:ln w="5080">
            <a:solidFill>
              <a:srgbClr val="CFD4D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5212080"/>
            <a:ext cx="640080" cy="365760"/>
          </a:xfrm>
          <a:prstGeom prst="rect">
            <a:avLst/>
          </a:prstGeom>
          <a:noFill/>
        </p:spPr>
        <p:txBody>
          <a:bodyPr wrap="square" lIns="0" rIns="0" tIns="0" bIns="0" anchor="t">
            <a:spAutoFit/>
          </a:bodyPr>
          <a:lstStyle/>
          <a:p>
            <a:pPr algn="l"/>
            <a:r>
              <a:rPr sz="1000" b="1" i="0">
                <a:solidFill>
                  <a:srgbClr val="C9A227"/>
                </a:solidFill>
                <a:latin typeface="Consolas"/>
              </a:rPr>
              <a:t>04</a:t>
            </a:r>
          </a:p>
        </p:txBody>
      </p:sp>
      <p:sp>
        <p:nvSpPr>
          <p:cNvPr id="20" name="TextBox 19"/>
          <p:cNvSpPr txBox="1"/>
          <p:nvPr/>
        </p:nvSpPr>
        <p:spPr>
          <a:xfrm>
            <a:off x="1280160" y="5175504"/>
            <a:ext cx="3657600" cy="365760"/>
          </a:xfrm>
          <a:prstGeom prst="rect">
            <a:avLst/>
          </a:prstGeom>
          <a:noFill/>
        </p:spPr>
        <p:txBody>
          <a:bodyPr wrap="square" lIns="0" rIns="0" tIns="0" bIns="0" anchor="t">
            <a:spAutoFit/>
          </a:bodyPr>
          <a:lstStyle/>
          <a:p>
            <a:pPr algn="l"/>
            <a:r>
              <a:rPr sz="1400" b="1" i="0">
                <a:solidFill>
                  <a:srgbClr val="0C1727"/>
                </a:solidFill>
                <a:latin typeface="Calibri"/>
              </a:rPr>
              <a:t>The 1D Illusion:</a:t>
            </a:r>
          </a:p>
        </p:txBody>
      </p:sp>
      <p:sp>
        <p:nvSpPr>
          <p:cNvPr id="21" name="TextBox 20"/>
          <p:cNvSpPr txBox="1"/>
          <p:nvPr/>
        </p:nvSpPr>
        <p:spPr>
          <a:xfrm>
            <a:off x="4937760" y="5175504"/>
            <a:ext cx="6583680" cy="822960"/>
          </a:xfrm>
          <a:prstGeom prst="rect">
            <a:avLst/>
          </a:prstGeom>
          <a:noFill/>
        </p:spPr>
        <p:txBody>
          <a:bodyPr wrap="square" lIns="0" rIns="0" tIns="0" bIns="0" anchor="t">
            <a:spAutoFit/>
          </a:bodyPr>
          <a:lstStyle/>
          <a:p>
            <a:pPr algn="l">
              <a:lnSpc>
                <a:spcPct val="140000"/>
              </a:lnSpc>
            </a:pPr>
            <a:r>
              <a:rPr sz="1200" b="0" i="0">
                <a:solidFill>
                  <a:srgbClr val="333D4D"/>
                </a:solidFill>
                <a:latin typeface="Calibri"/>
              </a:rPr>
              <a:t>Hawkish or Dovish is a one-dimensional output of a complex cognitive process. Current narrative trackers merely count keywords or topics, failing to capture the underlying system of reasoning driving the policy.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SOLUTION</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03 / 14</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4400" b="0" i="0">
                <a:solidFill>
                  <a:srgbClr val="0C1727"/>
                </a:solidFill>
                <a:latin typeface="Calibri Light"/>
              </a:rPr>
              <a:t>Cognitive Fingerprinting</a:t>
            </a:r>
          </a:p>
        </p:txBody>
      </p:sp>
      <p:sp>
        <p:nvSpPr>
          <p:cNvPr id="7" name="TextBox 6"/>
          <p:cNvSpPr txBox="1"/>
          <p:nvPr/>
        </p:nvSpPr>
        <p:spPr>
          <a:xfrm>
            <a:off x="640080" y="2103120"/>
            <a:ext cx="10972800" cy="640080"/>
          </a:xfrm>
          <a:prstGeom prst="rect">
            <a:avLst/>
          </a:prstGeom>
          <a:noFill/>
        </p:spPr>
        <p:txBody>
          <a:bodyPr wrap="square" lIns="0" rIns="0" tIns="0" bIns="0" anchor="t">
            <a:spAutoFit/>
          </a:bodyPr>
          <a:lstStyle/>
          <a:p>
            <a:pPr algn="l">
              <a:lnSpc>
                <a:spcPct val="140000"/>
              </a:lnSpc>
            </a:pPr>
            <a:r>
              <a:rPr sz="1400" b="0" i="1">
                <a:solidFill>
                  <a:srgbClr val="6B7686"/>
                </a:solidFill>
                <a:latin typeface="Calibri"/>
              </a:rPr>
              <a:t>We extract the system of reasoning underneath a policy preference, and turns it into a quantifiable 5-dimensional fingerprint per speaker.</a:t>
            </a:r>
          </a:p>
        </p:txBody>
      </p:sp>
      <p:sp>
        <p:nvSpPr>
          <p:cNvPr id="8" name="TextBox 7"/>
          <p:cNvSpPr txBox="1"/>
          <p:nvPr/>
        </p:nvSpPr>
        <p:spPr>
          <a:xfrm>
            <a:off x="640080" y="2743200"/>
            <a:ext cx="10972800" cy="411480"/>
          </a:xfrm>
          <a:prstGeom prst="rect">
            <a:avLst/>
          </a:prstGeom>
          <a:noFill/>
        </p:spPr>
        <p:txBody>
          <a:bodyPr wrap="square" lIns="0" rIns="0" tIns="0" bIns="0" anchor="t">
            <a:spAutoFit/>
          </a:bodyPr>
          <a:lstStyle/>
          <a:p>
            <a:pPr algn="l"/>
            <a:r>
              <a:rPr sz="1100" b="1" i="0">
                <a:solidFill>
                  <a:srgbClr val="C9A227"/>
                </a:solidFill>
                <a:latin typeface="Calibri"/>
              </a:rPr>
              <a:t>Visual:  A sleek mockup of the dashboard's Cognitive Fingerprint Radar Chart.</a:t>
            </a:r>
          </a:p>
        </p:txBody>
      </p:sp>
      <p:sp>
        <p:nvSpPr>
          <p:cNvPr id="9" name="TextBox 8"/>
          <p:cNvSpPr txBox="1"/>
          <p:nvPr/>
        </p:nvSpPr>
        <p:spPr>
          <a:xfrm>
            <a:off x="640080" y="3246120"/>
            <a:ext cx="5486400" cy="365760"/>
          </a:xfrm>
          <a:prstGeom prst="rect">
            <a:avLst/>
          </a:prstGeom>
          <a:noFill/>
        </p:spPr>
        <p:txBody>
          <a:bodyPr wrap="square" lIns="0" rIns="0" tIns="0" bIns="0" anchor="t">
            <a:spAutoFit/>
          </a:bodyPr>
          <a:lstStyle/>
          <a:p>
            <a:pPr algn="l"/>
            <a:r>
              <a:rPr sz="1400" b="1" i="0">
                <a:solidFill>
                  <a:srgbClr val="0C1727"/>
                </a:solidFill>
                <a:latin typeface="Calibri"/>
              </a:rPr>
              <a:t>The 5 Dimensions:</a:t>
            </a:r>
          </a:p>
        </p:txBody>
      </p:sp>
      <p:sp>
        <p:nvSpPr>
          <p:cNvPr id="10" name="TextBox 9"/>
          <p:cNvSpPr txBox="1"/>
          <p:nvPr/>
        </p:nvSpPr>
        <p:spPr>
          <a:xfrm>
            <a:off x="640080" y="3703320"/>
            <a:ext cx="548640" cy="365760"/>
          </a:xfrm>
          <a:prstGeom prst="rect">
            <a:avLst/>
          </a:prstGeom>
          <a:noFill/>
        </p:spPr>
        <p:txBody>
          <a:bodyPr wrap="square" lIns="0" rIns="0" tIns="0" bIns="0" anchor="t">
            <a:spAutoFit/>
          </a:bodyPr>
          <a:lstStyle/>
          <a:p>
            <a:pPr algn="l"/>
            <a:r>
              <a:rPr sz="1000" b="1" i="0">
                <a:solidFill>
                  <a:srgbClr val="C9A227"/>
                </a:solidFill>
                <a:latin typeface="Consolas"/>
              </a:rPr>
              <a:t>01</a:t>
            </a:r>
          </a:p>
        </p:txBody>
      </p:sp>
      <p:sp>
        <p:nvSpPr>
          <p:cNvPr id="11" name="TextBox 10"/>
          <p:cNvSpPr txBox="1"/>
          <p:nvPr/>
        </p:nvSpPr>
        <p:spPr>
          <a:xfrm>
            <a:off x="1188720" y="3703320"/>
            <a:ext cx="2011680" cy="365760"/>
          </a:xfrm>
          <a:prstGeom prst="rect">
            <a:avLst/>
          </a:prstGeom>
          <a:noFill/>
        </p:spPr>
        <p:txBody>
          <a:bodyPr wrap="square" lIns="0" rIns="0" tIns="0" bIns="0" anchor="t">
            <a:spAutoFit/>
          </a:bodyPr>
          <a:lstStyle/>
          <a:p>
            <a:pPr algn="l"/>
            <a:r>
              <a:rPr sz="1300" b="1" i="0">
                <a:solidFill>
                  <a:srgbClr val="0C1727"/>
                </a:solidFill>
                <a:latin typeface="Calibri"/>
              </a:rPr>
              <a:t>Topic:</a:t>
            </a:r>
          </a:p>
        </p:txBody>
      </p:sp>
      <p:sp>
        <p:nvSpPr>
          <p:cNvPr id="12" name="TextBox 11"/>
          <p:cNvSpPr txBox="1"/>
          <p:nvPr/>
        </p:nvSpPr>
        <p:spPr>
          <a:xfrm>
            <a:off x="3200400" y="3703320"/>
            <a:ext cx="8412480" cy="502919"/>
          </a:xfrm>
          <a:prstGeom prst="rect">
            <a:avLst/>
          </a:prstGeom>
          <a:noFill/>
        </p:spPr>
        <p:txBody>
          <a:bodyPr wrap="square" lIns="0" rIns="0" tIns="0" bIns="0" anchor="t">
            <a:spAutoFit/>
          </a:bodyPr>
          <a:lstStyle/>
          <a:p>
            <a:pPr algn="l">
              <a:lnSpc>
                <a:spcPct val="135000"/>
              </a:lnSpc>
            </a:pPr>
            <a:r>
              <a:rPr sz="1150" b="0" i="0">
                <a:solidFill>
                  <a:srgbClr val="333D4D"/>
                </a:solidFill>
                <a:latin typeface="Calibri"/>
              </a:rPr>
              <a:t>What economic domain is being discussed (Inflation, Labor Market, Economy, Monetary Policy, Financial Markets).</a:t>
            </a:r>
          </a:p>
        </p:txBody>
      </p:sp>
      <p:sp>
        <p:nvSpPr>
          <p:cNvPr id="13" name="TextBox 12"/>
          <p:cNvSpPr txBox="1"/>
          <p:nvPr/>
        </p:nvSpPr>
        <p:spPr>
          <a:xfrm>
            <a:off x="640080" y="4251959"/>
            <a:ext cx="548640" cy="365760"/>
          </a:xfrm>
          <a:prstGeom prst="rect">
            <a:avLst/>
          </a:prstGeom>
          <a:noFill/>
        </p:spPr>
        <p:txBody>
          <a:bodyPr wrap="square" lIns="0" rIns="0" tIns="0" bIns="0" anchor="t">
            <a:spAutoFit/>
          </a:bodyPr>
          <a:lstStyle/>
          <a:p>
            <a:pPr algn="l"/>
            <a:r>
              <a:rPr sz="1000" b="1" i="0">
                <a:solidFill>
                  <a:srgbClr val="C9A227"/>
                </a:solidFill>
                <a:latin typeface="Consolas"/>
              </a:rPr>
              <a:t>02</a:t>
            </a:r>
          </a:p>
        </p:txBody>
      </p:sp>
      <p:sp>
        <p:nvSpPr>
          <p:cNvPr id="14" name="TextBox 13"/>
          <p:cNvSpPr txBox="1"/>
          <p:nvPr/>
        </p:nvSpPr>
        <p:spPr>
          <a:xfrm>
            <a:off x="1188720" y="4251959"/>
            <a:ext cx="2011680" cy="365760"/>
          </a:xfrm>
          <a:prstGeom prst="rect">
            <a:avLst/>
          </a:prstGeom>
          <a:noFill/>
        </p:spPr>
        <p:txBody>
          <a:bodyPr wrap="square" lIns="0" rIns="0" tIns="0" bIns="0" anchor="t">
            <a:spAutoFit/>
          </a:bodyPr>
          <a:lstStyle/>
          <a:p>
            <a:pPr algn="l"/>
            <a:r>
              <a:rPr sz="1300" b="1" i="0">
                <a:solidFill>
                  <a:srgbClr val="0C1727"/>
                </a:solidFill>
                <a:latin typeface="Calibri"/>
              </a:rPr>
              <a:t>Narrative:</a:t>
            </a:r>
          </a:p>
        </p:txBody>
      </p:sp>
      <p:sp>
        <p:nvSpPr>
          <p:cNvPr id="15" name="TextBox 14"/>
          <p:cNvSpPr txBox="1"/>
          <p:nvPr/>
        </p:nvSpPr>
        <p:spPr>
          <a:xfrm>
            <a:off x="3200400" y="4251959"/>
            <a:ext cx="8412480" cy="502919"/>
          </a:xfrm>
          <a:prstGeom prst="rect">
            <a:avLst/>
          </a:prstGeom>
          <a:noFill/>
        </p:spPr>
        <p:txBody>
          <a:bodyPr wrap="square" lIns="0" rIns="0" tIns="0" bIns="0" anchor="t">
            <a:spAutoFit/>
          </a:bodyPr>
          <a:lstStyle/>
          <a:p>
            <a:pPr algn="l">
              <a:lnSpc>
                <a:spcPct val="135000"/>
              </a:lnSpc>
            </a:pPr>
            <a:r>
              <a:rPr sz="1150" b="0" i="0">
                <a:solidFill>
                  <a:srgbClr val="333D4D"/>
                </a:solidFill>
                <a:latin typeface="Calibri"/>
              </a:rPr>
              <a:t>The underlying system of reasoning used to make sense of economic processes. Categories include Altitude (up/down), Journey (path/direction), Object (solid/pressure).</a:t>
            </a:r>
          </a:p>
        </p:txBody>
      </p:sp>
      <p:sp>
        <p:nvSpPr>
          <p:cNvPr id="16" name="TextBox 15"/>
          <p:cNvSpPr txBox="1"/>
          <p:nvPr/>
        </p:nvSpPr>
        <p:spPr>
          <a:xfrm>
            <a:off x="640080" y="4800600"/>
            <a:ext cx="548640" cy="365760"/>
          </a:xfrm>
          <a:prstGeom prst="rect">
            <a:avLst/>
          </a:prstGeom>
          <a:noFill/>
        </p:spPr>
        <p:txBody>
          <a:bodyPr wrap="square" lIns="0" rIns="0" tIns="0" bIns="0" anchor="t">
            <a:spAutoFit/>
          </a:bodyPr>
          <a:lstStyle/>
          <a:p>
            <a:pPr algn="l"/>
            <a:r>
              <a:rPr sz="1000" b="1" i="0">
                <a:solidFill>
                  <a:srgbClr val="C9A227"/>
                </a:solidFill>
                <a:latin typeface="Consolas"/>
              </a:rPr>
              <a:t>03</a:t>
            </a:r>
          </a:p>
        </p:txBody>
      </p:sp>
      <p:sp>
        <p:nvSpPr>
          <p:cNvPr id="17" name="TextBox 16"/>
          <p:cNvSpPr txBox="1"/>
          <p:nvPr/>
        </p:nvSpPr>
        <p:spPr>
          <a:xfrm>
            <a:off x="1188720" y="4800600"/>
            <a:ext cx="2011680" cy="365760"/>
          </a:xfrm>
          <a:prstGeom prst="rect">
            <a:avLst/>
          </a:prstGeom>
          <a:noFill/>
        </p:spPr>
        <p:txBody>
          <a:bodyPr wrap="square" lIns="0" rIns="0" tIns="0" bIns="0" anchor="t">
            <a:spAutoFit/>
          </a:bodyPr>
          <a:lstStyle/>
          <a:p>
            <a:pPr algn="l"/>
            <a:r>
              <a:rPr sz="1300" b="1" i="0">
                <a:solidFill>
                  <a:srgbClr val="0C1727"/>
                </a:solidFill>
                <a:latin typeface="Calibri"/>
              </a:rPr>
              <a:t>Policy Stance:</a:t>
            </a:r>
          </a:p>
        </p:txBody>
      </p:sp>
      <p:sp>
        <p:nvSpPr>
          <p:cNvPr id="18" name="TextBox 17"/>
          <p:cNvSpPr txBox="1"/>
          <p:nvPr/>
        </p:nvSpPr>
        <p:spPr>
          <a:xfrm>
            <a:off x="3200400" y="4800600"/>
            <a:ext cx="8412480" cy="502919"/>
          </a:xfrm>
          <a:prstGeom prst="rect">
            <a:avLst/>
          </a:prstGeom>
          <a:noFill/>
        </p:spPr>
        <p:txBody>
          <a:bodyPr wrap="square" lIns="0" rIns="0" tIns="0" bIns="0" anchor="t">
            <a:spAutoFit/>
          </a:bodyPr>
          <a:lstStyle/>
          <a:p>
            <a:pPr algn="l">
              <a:lnSpc>
                <a:spcPct val="135000"/>
              </a:lnSpc>
            </a:pPr>
            <a:r>
              <a:rPr sz="1150" b="0" i="0">
                <a:solidFill>
                  <a:srgbClr val="333D4D"/>
                </a:solidFill>
                <a:latin typeface="Calibri"/>
              </a:rPr>
              <a:t>The primary actor driving economic conditions: (Interventionist vs. Autonomous vs. Diagnostic).</a:t>
            </a:r>
          </a:p>
        </p:txBody>
      </p:sp>
      <p:sp>
        <p:nvSpPr>
          <p:cNvPr id="19" name="TextBox 18"/>
          <p:cNvSpPr txBox="1"/>
          <p:nvPr/>
        </p:nvSpPr>
        <p:spPr>
          <a:xfrm>
            <a:off x="640080" y="5349240"/>
            <a:ext cx="548640" cy="365760"/>
          </a:xfrm>
          <a:prstGeom prst="rect">
            <a:avLst/>
          </a:prstGeom>
          <a:noFill/>
        </p:spPr>
        <p:txBody>
          <a:bodyPr wrap="square" lIns="0" rIns="0" tIns="0" bIns="0" anchor="t">
            <a:spAutoFit/>
          </a:bodyPr>
          <a:lstStyle/>
          <a:p>
            <a:pPr algn="l"/>
            <a:r>
              <a:rPr sz="1000" b="1" i="0">
                <a:solidFill>
                  <a:srgbClr val="C9A227"/>
                </a:solidFill>
                <a:latin typeface="Consolas"/>
              </a:rPr>
              <a:t>04</a:t>
            </a:r>
          </a:p>
        </p:txBody>
      </p:sp>
      <p:sp>
        <p:nvSpPr>
          <p:cNvPr id="20" name="TextBox 19"/>
          <p:cNvSpPr txBox="1"/>
          <p:nvPr/>
        </p:nvSpPr>
        <p:spPr>
          <a:xfrm>
            <a:off x="1188720" y="5349240"/>
            <a:ext cx="2011680" cy="365760"/>
          </a:xfrm>
          <a:prstGeom prst="rect">
            <a:avLst/>
          </a:prstGeom>
          <a:noFill/>
        </p:spPr>
        <p:txBody>
          <a:bodyPr wrap="square" lIns="0" rIns="0" tIns="0" bIns="0" anchor="t">
            <a:spAutoFit/>
          </a:bodyPr>
          <a:lstStyle/>
          <a:p>
            <a:pPr algn="l"/>
            <a:r>
              <a:rPr sz="1300" b="1" i="0">
                <a:solidFill>
                  <a:srgbClr val="0C1727"/>
                </a:solidFill>
                <a:latin typeface="Calibri"/>
              </a:rPr>
              <a:t>Action Horizon:</a:t>
            </a:r>
          </a:p>
        </p:txBody>
      </p:sp>
      <p:sp>
        <p:nvSpPr>
          <p:cNvPr id="21" name="TextBox 20"/>
          <p:cNvSpPr txBox="1"/>
          <p:nvPr/>
        </p:nvSpPr>
        <p:spPr>
          <a:xfrm>
            <a:off x="3200400" y="5349240"/>
            <a:ext cx="8412480" cy="502919"/>
          </a:xfrm>
          <a:prstGeom prst="rect">
            <a:avLst/>
          </a:prstGeom>
          <a:noFill/>
        </p:spPr>
        <p:txBody>
          <a:bodyPr wrap="square" lIns="0" rIns="0" tIns="0" bIns="0" anchor="t">
            <a:spAutoFit/>
          </a:bodyPr>
          <a:lstStyle/>
          <a:p>
            <a:pPr algn="l">
              <a:lnSpc>
                <a:spcPct val="135000"/>
              </a:lnSpc>
            </a:pPr>
            <a:r>
              <a:rPr sz="1150" b="0" i="0">
                <a:solidFill>
                  <a:srgbClr val="333D4D"/>
                </a:solidFill>
                <a:latin typeface="Calibri"/>
              </a:rPr>
              <a:t>The temporal horizon of the reasoning: Forward-looking (intent, projection, and guidance) versus Backward-looking (track record and past data).</a:t>
            </a:r>
          </a:p>
        </p:txBody>
      </p:sp>
      <p:sp>
        <p:nvSpPr>
          <p:cNvPr id="22" name="TextBox 21"/>
          <p:cNvSpPr txBox="1"/>
          <p:nvPr/>
        </p:nvSpPr>
        <p:spPr>
          <a:xfrm>
            <a:off x="640080" y="5897879"/>
            <a:ext cx="548640" cy="365760"/>
          </a:xfrm>
          <a:prstGeom prst="rect">
            <a:avLst/>
          </a:prstGeom>
          <a:noFill/>
        </p:spPr>
        <p:txBody>
          <a:bodyPr wrap="square" lIns="0" rIns="0" tIns="0" bIns="0" anchor="t">
            <a:spAutoFit/>
          </a:bodyPr>
          <a:lstStyle/>
          <a:p>
            <a:pPr algn="l"/>
            <a:r>
              <a:rPr sz="1000" b="1" i="0">
                <a:solidFill>
                  <a:srgbClr val="C9A227"/>
                </a:solidFill>
                <a:latin typeface="Consolas"/>
              </a:rPr>
              <a:t>05</a:t>
            </a:r>
          </a:p>
        </p:txBody>
      </p:sp>
      <p:sp>
        <p:nvSpPr>
          <p:cNvPr id="23" name="TextBox 22"/>
          <p:cNvSpPr txBox="1"/>
          <p:nvPr/>
        </p:nvSpPr>
        <p:spPr>
          <a:xfrm>
            <a:off x="1188720" y="5897879"/>
            <a:ext cx="2011680" cy="365760"/>
          </a:xfrm>
          <a:prstGeom prst="rect">
            <a:avLst/>
          </a:prstGeom>
          <a:noFill/>
        </p:spPr>
        <p:txBody>
          <a:bodyPr wrap="square" lIns="0" rIns="0" tIns="0" bIns="0" anchor="t">
            <a:spAutoFit/>
          </a:bodyPr>
          <a:lstStyle/>
          <a:p>
            <a:pPr algn="l"/>
            <a:r>
              <a:rPr sz="1300" b="1" i="0">
                <a:solidFill>
                  <a:srgbClr val="0C1727"/>
                </a:solidFill>
                <a:latin typeface="Calibri"/>
              </a:rPr>
              <a:t>Stress Intensity:</a:t>
            </a:r>
          </a:p>
        </p:txBody>
      </p:sp>
      <p:sp>
        <p:nvSpPr>
          <p:cNvPr id="24" name="TextBox 23"/>
          <p:cNvSpPr txBox="1"/>
          <p:nvPr/>
        </p:nvSpPr>
        <p:spPr>
          <a:xfrm>
            <a:off x="3200400" y="5897879"/>
            <a:ext cx="8412480" cy="502919"/>
          </a:xfrm>
          <a:prstGeom prst="rect">
            <a:avLst/>
          </a:prstGeom>
          <a:noFill/>
        </p:spPr>
        <p:txBody>
          <a:bodyPr wrap="square" lIns="0" rIns="0" tIns="0" bIns="0" anchor="t">
            <a:spAutoFit/>
          </a:bodyPr>
          <a:lstStyle/>
          <a:p>
            <a:pPr algn="l">
              <a:lnSpc>
                <a:spcPct val="135000"/>
              </a:lnSpc>
            </a:pPr>
            <a:r>
              <a:rPr sz="1150" b="0" i="0">
                <a:solidFill>
                  <a:srgbClr val="333D4D"/>
                </a:solidFill>
                <a:latin typeface="Calibri"/>
              </a:rPr>
              <a:t>The perceived level of control: Controlled (1) / Strained (2) / Crisis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6F1"/>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WHY IS IT DIFFERENT FROM CURRENT SOLUTIONS?</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04 / 14</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914400"/>
          </a:xfrm>
          <a:prstGeom prst="rect">
            <a:avLst/>
          </a:prstGeom>
          <a:noFill/>
        </p:spPr>
        <p:txBody>
          <a:bodyPr wrap="square" lIns="0" rIns="0" tIns="0" bIns="0" anchor="t">
            <a:spAutoFit/>
          </a:bodyPr>
          <a:lstStyle/>
          <a:p>
            <a:pPr algn="l"/>
            <a:r>
              <a:rPr sz="4000" b="0" i="0">
                <a:solidFill>
                  <a:srgbClr val="0C1727"/>
                </a:solidFill>
                <a:latin typeface="Calibri Light"/>
              </a:rPr>
              <a:t>Why is it different from current solutions?</a:t>
            </a:r>
          </a:p>
        </p:txBody>
      </p:sp>
      <p:sp>
        <p:nvSpPr>
          <p:cNvPr id="7" name="TextBox 6"/>
          <p:cNvSpPr txBox="1"/>
          <p:nvPr/>
        </p:nvSpPr>
        <p:spPr>
          <a:xfrm>
            <a:off x="640080" y="2743200"/>
            <a:ext cx="640080" cy="411480"/>
          </a:xfrm>
          <a:prstGeom prst="rect">
            <a:avLst/>
          </a:prstGeom>
          <a:noFill/>
        </p:spPr>
        <p:txBody>
          <a:bodyPr wrap="square" lIns="0" rIns="0" tIns="0" bIns="0" anchor="t">
            <a:spAutoFit/>
          </a:bodyPr>
          <a:lstStyle/>
          <a:p>
            <a:pPr algn="l"/>
            <a:r>
              <a:rPr sz="1100" b="1" i="0">
                <a:solidFill>
                  <a:srgbClr val="C9A227"/>
                </a:solidFill>
                <a:latin typeface="Consolas"/>
              </a:rPr>
              <a:t>01</a:t>
            </a:r>
          </a:p>
        </p:txBody>
      </p:sp>
      <p:sp>
        <p:nvSpPr>
          <p:cNvPr id="8" name="TextBox 7"/>
          <p:cNvSpPr txBox="1"/>
          <p:nvPr/>
        </p:nvSpPr>
        <p:spPr>
          <a:xfrm>
            <a:off x="1280160" y="2743200"/>
            <a:ext cx="5669280" cy="548640"/>
          </a:xfrm>
          <a:prstGeom prst="rect">
            <a:avLst/>
          </a:prstGeom>
          <a:noFill/>
        </p:spPr>
        <p:txBody>
          <a:bodyPr wrap="square" lIns="0" rIns="0" tIns="0" bIns="0" anchor="t">
            <a:spAutoFit/>
          </a:bodyPr>
          <a:lstStyle/>
          <a:p>
            <a:pPr algn="l">
              <a:lnSpc>
                <a:spcPct val="120000"/>
              </a:lnSpc>
            </a:pPr>
            <a:r>
              <a:rPr sz="1800" b="1" i="0">
                <a:solidFill>
                  <a:srgbClr val="0C1727"/>
                </a:solidFill>
                <a:latin typeface="Calibri"/>
              </a:rPr>
              <a:t>Beyond Positive/Negative Sentiment:</a:t>
            </a:r>
          </a:p>
        </p:txBody>
      </p:sp>
      <p:sp>
        <p:nvSpPr>
          <p:cNvPr id="9" name="TextBox 8"/>
          <p:cNvSpPr txBox="1"/>
          <p:nvPr/>
        </p:nvSpPr>
        <p:spPr>
          <a:xfrm>
            <a:off x="1280160" y="3383280"/>
            <a:ext cx="10332720" cy="731520"/>
          </a:xfrm>
          <a:prstGeom prst="rect">
            <a:avLst/>
          </a:prstGeom>
          <a:noFill/>
        </p:spPr>
        <p:txBody>
          <a:bodyPr wrap="square" lIns="0" rIns="0" tIns="0" bIns="0" anchor="t">
            <a:spAutoFit/>
          </a:bodyPr>
          <a:lstStyle/>
          <a:p>
            <a:pPr algn="l">
              <a:lnSpc>
                <a:spcPct val="145000"/>
              </a:lnSpc>
            </a:pPr>
            <a:r>
              <a:rPr sz="1350" b="0" i="0">
                <a:solidFill>
                  <a:srgbClr val="333D4D"/>
                </a:solidFill>
                <a:latin typeface="Calibri"/>
              </a:rPr>
              <a:t>Sentiment reads tone; we detect narrative regime changes and structural shifts.</a:t>
            </a:r>
          </a:p>
        </p:txBody>
      </p:sp>
      <p:cxnSp>
        <p:nvCxnSpPr>
          <p:cNvPr id="10" name="Connector 9"/>
          <p:cNvCxnSpPr/>
          <p:nvPr/>
        </p:nvCxnSpPr>
        <p:spPr>
          <a:xfrm>
            <a:off x="640080" y="3959352"/>
            <a:ext cx="1097280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4069080"/>
            <a:ext cx="640080" cy="411480"/>
          </a:xfrm>
          <a:prstGeom prst="rect">
            <a:avLst/>
          </a:prstGeom>
          <a:noFill/>
        </p:spPr>
        <p:txBody>
          <a:bodyPr wrap="square" lIns="0" rIns="0" tIns="0" bIns="0" anchor="t">
            <a:spAutoFit/>
          </a:bodyPr>
          <a:lstStyle/>
          <a:p>
            <a:pPr algn="l"/>
            <a:r>
              <a:rPr sz="1100" b="1" i="0">
                <a:solidFill>
                  <a:srgbClr val="C9A227"/>
                </a:solidFill>
                <a:latin typeface="Consolas"/>
              </a:rPr>
              <a:t>02</a:t>
            </a:r>
          </a:p>
        </p:txBody>
      </p:sp>
      <p:sp>
        <p:nvSpPr>
          <p:cNvPr id="12" name="TextBox 11"/>
          <p:cNvSpPr txBox="1"/>
          <p:nvPr/>
        </p:nvSpPr>
        <p:spPr>
          <a:xfrm>
            <a:off x="1280160" y="4069080"/>
            <a:ext cx="5669280" cy="548640"/>
          </a:xfrm>
          <a:prstGeom prst="rect">
            <a:avLst/>
          </a:prstGeom>
          <a:noFill/>
        </p:spPr>
        <p:txBody>
          <a:bodyPr wrap="square" lIns="0" rIns="0" tIns="0" bIns="0" anchor="t">
            <a:spAutoFit/>
          </a:bodyPr>
          <a:lstStyle/>
          <a:p>
            <a:pPr algn="l">
              <a:lnSpc>
                <a:spcPct val="120000"/>
              </a:lnSpc>
            </a:pPr>
            <a:r>
              <a:rPr sz="1800" b="1" i="0">
                <a:solidFill>
                  <a:srgbClr val="0C1727"/>
                </a:solidFill>
                <a:latin typeface="Calibri"/>
              </a:rPr>
              <a:t>Beyond 1D Hawkish/Dovish:</a:t>
            </a:r>
          </a:p>
        </p:txBody>
      </p:sp>
      <p:sp>
        <p:nvSpPr>
          <p:cNvPr id="13" name="TextBox 12"/>
          <p:cNvSpPr txBox="1"/>
          <p:nvPr/>
        </p:nvSpPr>
        <p:spPr>
          <a:xfrm>
            <a:off x="1280160" y="4709160"/>
            <a:ext cx="10332720" cy="731520"/>
          </a:xfrm>
          <a:prstGeom prst="rect">
            <a:avLst/>
          </a:prstGeom>
          <a:noFill/>
        </p:spPr>
        <p:txBody>
          <a:bodyPr wrap="square" lIns="0" rIns="0" tIns="0" bIns="0" anchor="t">
            <a:spAutoFit/>
          </a:bodyPr>
          <a:lstStyle/>
          <a:p>
            <a:pPr algn="l">
              <a:lnSpc>
                <a:spcPct val="145000"/>
              </a:lnSpc>
            </a:pPr>
            <a:r>
              <a:rPr sz="1350" b="0" i="0">
                <a:solidFill>
                  <a:srgbClr val="333D4D"/>
                </a:solidFill>
                <a:latin typeface="Calibri"/>
              </a:rPr>
              <a:t>Hawkish/Dovish is where a policy preference lands. We measure how that preference is constructed: who acts, when they act, and with what level of perceived control.</a:t>
            </a:r>
          </a:p>
        </p:txBody>
      </p:sp>
      <p:cxnSp>
        <p:nvCxnSpPr>
          <p:cNvPr id="14" name="Connector 13"/>
          <p:cNvCxnSpPr/>
          <p:nvPr/>
        </p:nvCxnSpPr>
        <p:spPr>
          <a:xfrm>
            <a:off x="640080" y="5285232"/>
            <a:ext cx="1097280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5394960"/>
            <a:ext cx="640080" cy="411480"/>
          </a:xfrm>
          <a:prstGeom prst="rect">
            <a:avLst/>
          </a:prstGeom>
          <a:noFill/>
        </p:spPr>
        <p:txBody>
          <a:bodyPr wrap="square" lIns="0" rIns="0" tIns="0" bIns="0" anchor="t">
            <a:spAutoFit/>
          </a:bodyPr>
          <a:lstStyle/>
          <a:p>
            <a:pPr algn="l"/>
            <a:r>
              <a:rPr sz="1100" b="1" i="0">
                <a:solidFill>
                  <a:srgbClr val="C9A227"/>
                </a:solidFill>
                <a:latin typeface="Consolas"/>
              </a:rPr>
              <a:t>03</a:t>
            </a:r>
          </a:p>
        </p:txBody>
      </p:sp>
      <p:sp>
        <p:nvSpPr>
          <p:cNvPr id="16" name="TextBox 15"/>
          <p:cNvSpPr txBox="1"/>
          <p:nvPr/>
        </p:nvSpPr>
        <p:spPr>
          <a:xfrm>
            <a:off x="1280160" y="5394960"/>
            <a:ext cx="5669280" cy="548640"/>
          </a:xfrm>
          <a:prstGeom prst="rect">
            <a:avLst/>
          </a:prstGeom>
          <a:noFill/>
        </p:spPr>
        <p:txBody>
          <a:bodyPr wrap="square" lIns="0" rIns="0" tIns="0" bIns="0" anchor="t">
            <a:spAutoFit/>
          </a:bodyPr>
          <a:lstStyle/>
          <a:p>
            <a:pPr algn="l">
              <a:lnSpc>
                <a:spcPct val="120000"/>
              </a:lnSpc>
            </a:pPr>
            <a:r>
              <a:rPr sz="1800" b="1" i="0">
                <a:solidFill>
                  <a:srgbClr val="0C1727"/>
                </a:solidFill>
                <a:latin typeface="Calibri"/>
              </a:rPr>
              <a:t>Beyond Basic Narrative Trackers:</a:t>
            </a:r>
          </a:p>
        </p:txBody>
      </p:sp>
      <p:sp>
        <p:nvSpPr>
          <p:cNvPr id="17" name="TextBox 16"/>
          <p:cNvSpPr txBox="1"/>
          <p:nvPr/>
        </p:nvSpPr>
        <p:spPr>
          <a:xfrm>
            <a:off x="1280160" y="6035040"/>
            <a:ext cx="10332720" cy="731520"/>
          </a:xfrm>
          <a:prstGeom prst="rect">
            <a:avLst/>
          </a:prstGeom>
          <a:noFill/>
        </p:spPr>
        <p:txBody>
          <a:bodyPr wrap="square" lIns="0" rIns="0" tIns="0" bIns="0" anchor="t">
            <a:spAutoFit/>
          </a:bodyPr>
          <a:lstStyle/>
          <a:p>
            <a:pPr algn="l">
              <a:lnSpc>
                <a:spcPct val="145000"/>
              </a:lnSpc>
            </a:pPr>
            <a:r>
              <a:rPr sz="1350" b="0" i="0">
                <a:solidFill>
                  <a:srgbClr val="333D4D"/>
                </a:solidFill>
                <a:latin typeface="Calibri"/>
              </a:rPr>
              <a:t>Existing solutions track topics. We reverse-engineer their system of reasoning using a 5-dimensional cognitive framework.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PRODUCT</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05 / 14</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914400"/>
          </a:xfrm>
          <a:prstGeom prst="rect">
            <a:avLst/>
          </a:prstGeom>
          <a:noFill/>
        </p:spPr>
        <p:txBody>
          <a:bodyPr wrap="square" lIns="0" rIns="0" tIns="0" bIns="0" anchor="t">
            <a:spAutoFit/>
          </a:bodyPr>
          <a:lstStyle/>
          <a:p>
            <a:pPr algn="l"/>
            <a:r>
              <a:rPr sz="4400" b="0" i="0">
                <a:solidFill>
                  <a:srgbClr val="0C1727"/>
                </a:solidFill>
                <a:latin typeface="Calibri Light"/>
              </a:rPr>
              <a:t>Dashboard &amp; API</a:t>
            </a:r>
          </a:p>
        </p:txBody>
      </p:sp>
      <p:sp>
        <p:nvSpPr>
          <p:cNvPr id="7" name="Rectangle 6"/>
          <p:cNvSpPr/>
          <p:nvPr/>
        </p:nvSpPr>
        <p:spPr>
          <a:xfrm>
            <a:off x="640080" y="2926080"/>
            <a:ext cx="54864" cy="3017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926080"/>
            <a:ext cx="914400" cy="320040"/>
          </a:xfrm>
          <a:prstGeom prst="rect">
            <a:avLst/>
          </a:prstGeom>
          <a:noFill/>
        </p:spPr>
        <p:txBody>
          <a:bodyPr wrap="square" lIns="0" rIns="0" tIns="0" bIns="0" anchor="t">
            <a:spAutoFit/>
          </a:bodyPr>
          <a:lstStyle/>
          <a:p>
            <a:pPr algn="l"/>
            <a:r>
              <a:rPr sz="1100" b="1" i="0">
                <a:solidFill>
                  <a:srgbClr val="C9A227"/>
                </a:solidFill>
                <a:latin typeface="Consolas"/>
              </a:rPr>
              <a:t>01</a:t>
            </a:r>
          </a:p>
        </p:txBody>
      </p:sp>
      <p:sp>
        <p:nvSpPr>
          <p:cNvPr id="9" name="TextBox 8"/>
          <p:cNvSpPr txBox="1"/>
          <p:nvPr/>
        </p:nvSpPr>
        <p:spPr>
          <a:xfrm>
            <a:off x="868680" y="3337560"/>
            <a:ext cx="5212079" cy="640080"/>
          </a:xfrm>
          <a:prstGeom prst="rect">
            <a:avLst/>
          </a:prstGeom>
          <a:noFill/>
        </p:spPr>
        <p:txBody>
          <a:bodyPr wrap="square" lIns="0" rIns="0" tIns="0" bIns="0" anchor="t">
            <a:spAutoFit/>
          </a:bodyPr>
          <a:lstStyle/>
          <a:p>
            <a:pPr algn="l">
              <a:lnSpc>
                <a:spcPct val="115000"/>
              </a:lnSpc>
            </a:pPr>
            <a:r>
              <a:rPr sz="2200" b="1" i="0">
                <a:solidFill>
                  <a:srgbClr val="0C1727"/>
                </a:solidFill>
                <a:latin typeface="Calibri"/>
              </a:rPr>
              <a:t>Strategic Dashboard:</a:t>
            </a:r>
          </a:p>
        </p:txBody>
      </p:sp>
      <p:sp>
        <p:nvSpPr>
          <p:cNvPr id="10" name="TextBox 9"/>
          <p:cNvSpPr txBox="1"/>
          <p:nvPr/>
        </p:nvSpPr>
        <p:spPr>
          <a:xfrm>
            <a:off x="868680" y="4251960"/>
            <a:ext cx="5212079" cy="1828800"/>
          </a:xfrm>
          <a:prstGeom prst="rect">
            <a:avLst/>
          </a:prstGeom>
          <a:noFill/>
        </p:spPr>
        <p:txBody>
          <a:bodyPr wrap="square" lIns="0" rIns="0" tIns="0" bIns="0" anchor="t">
            <a:spAutoFit/>
          </a:bodyPr>
          <a:lstStyle/>
          <a:p>
            <a:pPr algn="l">
              <a:lnSpc>
                <a:spcPct val="150000"/>
              </a:lnSpc>
            </a:pPr>
            <a:r>
              <a:rPr sz="1350" b="0" i="0">
                <a:solidFill>
                  <a:srgbClr val="333D4D"/>
                </a:solidFill>
                <a:latin typeface="Calibri"/>
              </a:rPr>
              <a:t>Visualizing cognitive fingerprints, stance matrices, and action horizons for portfolio managers.</a:t>
            </a:r>
          </a:p>
        </p:txBody>
      </p:sp>
      <p:sp>
        <p:nvSpPr>
          <p:cNvPr id="11" name="Rectangle 10"/>
          <p:cNvSpPr/>
          <p:nvPr/>
        </p:nvSpPr>
        <p:spPr>
          <a:xfrm>
            <a:off x="6492240" y="2926080"/>
            <a:ext cx="54864" cy="3017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2926080"/>
            <a:ext cx="914400" cy="320040"/>
          </a:xfrm>
          <a:prstGeom prst="rect">
            <a:avLst/>
          </a:prstGeom>
          <a:noFill/>
        </p:spPr>
        <p:txBody>
          <a:bodyPr wrap="square" lIns="0" rIns="0" tIns="0" bIns="0" anchor="t">
            <a:spAutoFit/>
          </a:bodyPr>
          <a:lstStyle/>
          <a:p>
            <a:pPr algn="l"/>
            <a:r>
              <a:rPr sz="1100" b="1" i="0">
                <a:solidFill>
                  <a:srgbClr val="C9A227"/>
                </a:solidFill>
                <a:latin typeface="Consolas"/>
              </a:rPr>
              <a:t>02</a:t>
            </a:r>
          </a:p>
        </p:txBody>
      </p:sp>
      <p:sp>
        <p:nvSpPr>
          <p:cNvPr id="13" name="TextBox 12"/>
          <p:cNvSpPr txBox="1"/>
          <p:nvPr/>
        </p:nvSpPr>
        <p:spPr>
          <a:xfrm>
            <a:off x="6720840" y="3337560"/>
            <a:ext cx="5212079" cy="640080"/>
          </a:xfrm>
          <a:prstGeom prst="rect">
            <a:avLst/>
          </a:prstGeom>
          <a:noFill/>
        </p:spPr>
        <p:txBody>
          <a:bodyPr wrap="square" lIns="0" rIns="0" tIns="0" bIns="0" anchor="t">
            <a:spAutoFit/>
          </a:bodyPr>
          <a:lstStyle/>
          <a:p>
            <a:pPr algn="l">
              <a:lnSpc>
                <a:spcPct val="115000"/>
              </a:lnSpc>
            </a:pPr>
            <a:r>
              <a:rPr sz="2200" b="1" i="0">
                <a:solidFill>
                  <a:srgbClr val="0C1727"/>
                </a:solidFill>
                <a:latin typeface="Calibri"/>
              </a:rPr>
              <a:t>Narrative API:</a:t>
            </a:r>
          </a:p>
        </p:txBody>
      </p:sp>
      <p:sp>
        <p:nvSpPr>
          <p:cNvPr id="14" name="TextBox 13"/>
          <p:cNvSpPr txBox="1"/>
          <p:nvPr/>
        </p:nvSpPr>
        <p:spPr>
          <a:xfrm>
            <a:off x="6720840" y="4251960"/>
            <a:ext cx="5212079" cy="1828800"/>
          </a:xfrm>
          <a:prstGeom prst="rect">
            <a:avLst/>
          </a:prstGeom>
          <a:noFill/>
        </p:spPr>
        <p:txBody>
          <a:bodyPr wrap="square" lIns="0" rIns="0" tIns="0" bIns="0" anchor="t">
            <a:spAutoFit/>
          </a:bodyPr>
          <a:lstStyle/>
          <a:p>
            <a:pPr algn="l">
              <a:lnSpc>
                <a:spcPct val="150000"/>
              </a:lnSpc>
            </a:pPr>
            <a:r>
              <a:rPr sz="1350" b="0" i="0">
                <a:solidFill>
                  <a:srgbClr val="333D4D"/>
                </a:solidFill>
                <a:latin typeface="Calibri"/>
              </a:rPr>
              <a:t>Direct data feed for quantitative models. Delivers real-time cognitive signals, narrative shift velocity, and policy stance intent.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DEMO DASHBOARD</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06 / 14</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4400" b="0" i="0">
                <a:solidFill>
                  <a:srgbClr val="0C1727"/>
                </a:solidFill>
                <a:latin typeface="Calibri Light"/>
              </a:rPr>
              <a:t>Demo Dashboard</a:t>
            </a:r>
          </a:p>
        </p:txBody>
      </p:sp>
      <p:sp>
        <p:nvSpPr>
          <p:cNvPr id="7" name="TextBox 6"/>
          <p:cNvSpPr txBox="1"/>
          <p:nvPr/>
        </p:nvSpPr>
        <p:spPr>
          <a:xfrm>
            <a:off x="640080" y="2240280"/>
            <a:ext cx="5029200" cy="365760"/>
          </a:xfrm>
          <a:prstGeom prst="rect">
            <a:avLst/>
          </a:prstGeom>
          <a:noFill/>
        </p:spPr>
        <p:txBody>
          <a:bodyPr wrap="square" lIns="0" rIns="0" tIns="0" bIns="0" anchor="t">
            <a:spAutoFit/>
          </a:bodyPr>
          <a:lstStyle/>
          <a:p>
            <a:pPr algn="l"/>
            <a:r>
              <a:rPr sz="1100" b="1" i="0">
                <a:solidFill>
                  <a:srgbClr val="C9A227"/>
                </a:solidFill>
                <a:latin typeface="Calibri"/>
              </a:rPr>
              <a:t>Concept:</a:t>
            </a:r>
          </a:p>
        </p:txBody>
      </p:sp>
      <p:sp>
        <p:nvSpPr>
          <p:cNvPr id="8" name="TextBox 7"/>
          <p:cNvSpPr txBox="1"/>
          <p:nvPr/>
        </p:nvSpPr>
        <p:spPr>
          <a:xfrm>
            <a:off x="640080" y="2560320"/>
            <a:ext cx="5212080" cy="1371600"/>
          </a:xfrm>
          <a:prstGeom prst="rect">
            <a:avLst/>
          </a:prstGeom>
          <a:noFill/>
        </p:spPr>
        <p:txBody>
          <a:bodyPr wrap="square" lIns="0" rIns="0" tIns="0" bIns="0" anchor="t">
            <a:spAutoFit/>
          </a:bodyPr>
          <a:lstStyle/>
          <a:p>
            <a:pPr algn="l">
              <a:lnSpc>
                <a:spcPct val="140000"/>
              </a:lnSpc>
            </a:pPr>
            <a:r>
              <a:rPr sz="1400" b="0" i="0">
                <a:solidFill>
                  <a:srgbClr val="333D4D"/>
                </a:solidFill>
                <a:latin typeface="Calibri"/>
              </a:rPr>
              <a:t>We piloted our method on the 2022–2023 inflation crisis to track the central and alternative narratives of FED governors.</a:t>
            </a:r>
          </a:p>
        </p:txBody>
      </p:sp>
      <p:sp>
        <p:nvSpPr>
          <p:cNvPr id="9" name="TextBox 8"/>
          <p:cNvSpPr txBox="1"/>
          <p:nvPr/>
        </p:nvSpPr>
        <p:spPr>
          <a:xfrm>
            <a:off x="640080" y="4023360"/>
            <a:ext cx="5029200" cy="365760"/>
          </a:xfrm>
          <a:prstGeom prst="rect">
            <a:avLst/>
          </a:prstGeom>
          <a:noFill/>
        </p:spPr>
        <p:txBody>
          <a:bodyPr wrap="square" lIns="0" rIns="0" tIns="0" bIns="0" anchor="t">
            <a:spAutoFit/>
          </a:bodyPr>
          <a:lstStyle/>
          <a:p>
            <a:pPr algn="l"/>
            <a:r>
              <a:rPr sz="1100" b="1" i="0">
                <a:solidFill>
                  <a:srgbClr val="C9A227"/>
                </a:solidFill>
                <a:latin typeface="Calibri"/>
              </a:rPr>
              <a:t>Visual:</a:t>
            </a:r>
          </a:p>
        </p:txBody>
      </p:sp>
      <p:sp>
        <p:nvSpPr>
          <p:cNvPr id="10" name="TextBox 9"/>
          <p:cNvSpPr txBox="1"/>
          <p:nvPr/>
        </p:nvSpPr>
        <p:spPr>
          <a:xfrm>
            <a:off x="640080" y="4343400"/>
            <a:ext cx="5212080" cy="548640"/>
          </a:xfrm>
          <a:prstGeom prst="rect">
            <a:avLst/>
          </a:prstGeom>
          <a:noFill/>
        </p:spPr>
        <p:txBody>
          <a:bodyPr wrap="square" lIns="0" rIns="0" tIns="0" bIns="0" anchor="t">
            <a:spAutoFit/>
          </a:bodyPr>
          <a:lstStyle/>
          <a:p>
            <a:pPr algn="l">
              <a:lnSpc>
                <a:spcPct val="135000"/>
              </a:lnSpc>
            </a:pPr>
            <a:r>
              <a:rPr sz="1300" b="0" i="0">
                <a:solidFill>
                  <a:srgbClr val="333D4D"/>
                </a:solidFill>
                <a:latin typeface="Calibri"/>
              </a:rPr>
              <a:t>The Stance Ternary Plot from the dashboard.</a:t>
            </a:r>
          </a:p>
        </p:txBody>
      </p:sp>
      <p:sp>
        <p:nvSpPr>
          <p:cNvPr id="11" name="TextBox 10"/>
          <p:cNvSpPr txBox="1"/>
          <p:nvPr/>
        </p:nvSpPr>
        <p:spPr>
          <a:xfrm>
            <a:off x="640080" y="4983480"/>
            <a:ext cx="5029200" cy="365760"/>
          </a:xfrm>
          <a:prstGeom prst="rect">
            <a:avLst/>
          </a:prstGeom>
          <a:noFill/>
        </p:spPr>
        <p:txBody>
          <a:bodyPr wrap="square" lIns="0" rIns="0" tIns="0" bIns="0" anchor="t">
            <a:spAutoFit/>
          </a:bodyPr>
          <a:lstStyle/>
          <a:p>
            <a:pPr algn="l"/>
            <a:r>
              <a:rPr sz="1100" b="1" i="0">
                <a:solidFill>
                  <a:srgbClr val="C9A227"/>
                </a:solidFill>
                <a:latin typeface="Calibri"/>
              </a:rPr>
              <a:t>Talking Track:</a:t>
            </a:r>
          </a:p>
        </p:txBody>
      </p:sp>
      <p:sp>
        <p:nvSpPr>
          <p:cNvPr id="12" name="TextBox 11"/>
          <p:cNvSpPr txBox="1"/>
          <p:nvPr/>
        </p:nvSpPr>
        <p:spPr>
          <a:xfrm>
            <a:off x="640080" y="5303520"/>
            <a:ext cx="5212080" cy="1463040"/>
          </a:xfrm>
          <a:prstGeom prst="rect">
            <a:avLst/>
          </a:prstGeom>
          <a:noFill/>
        </p:spPr>
        <p:txBody>
          <a:bodyPr wrap="square" lIns="0" rIns="0" tIns="0" bIns="0" anchor="t">
            <a:spAutoFit/>
          </a:bodyPr>
          <a:lstStyle/>
          <a:p>
            <a:pPr algn="l">
              <a:lnSpc>
                <a:spcPct val="140000"/>
              </a:lnSpc>
            </a:pPr>
            <a:r>
              <a:rPr sz="1150" b="0" i="1">
                <a:solidFill>
                  <a:srgbClr val="1A202C"/>
                </a:solidFill>
                <a:latin typeface="Calibri"/>
              </a:rPr>
              <a:t>“Instead of telling you the Fed is ‘negative’ or getting more hawkish, we map the dispersion of the committee. We can show you Powell moving deep into the Interventionist and Forward-Looking quadrants, while peers remain Diagnostic, signaling a high-conviction policy execution.”</a:t>
            </a:r>
          </a:p>
        </p:txBody>
      </p:sp>
      <p:sp>
        <p:nvSpPr>
          <p:cNvPr id="13" name="Rectangle 12"/>
          <p:cNvSpPr/>
          <p:nvPr/>
        </p:nvSpPr>
        <p:spPr>
          <a:xfrm>
            <a:off x="6400800" y="2286000"/>
            <a:ext cx="5120640" cy="3840480"/>
          </a:xfrm>
          <a:prstGeom prst="rect">
            <a:avLst/>
          </a:prstGeom>
          <a:solidFill>
            <a:srgbClr val="FAFAF8"/>
          </a:solidFill>
          <a:ln w="9525">
            <a:solidFill>
              <a:srgbClr val="CF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H="1">
            <a:off x="7178040" y="3154680"/>
            <a:ext cx="1783080" cy="2377440"/>
          </a:xfrm>
          <a:prstGeom prst="line">
            <a:avLst/>
          </a:prstGeom>
          <a:ln w="12700">
            <a:solidFill>
              <a:srgbClr val="6B76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178040" y="5532120"/>
            <a:ext cx="3566160" cy="0"/>
          </a:xfrm>
          <a:prstGeom prst="line">
            <a:avLst/>
          </a:prstGeom>
          <a:ln w="12700">
            <a:solidFill>
              <a:srgbClr val="6B76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8961120" y="3154680"/>
            <a:ext cx="1783080" cy="2377440"/>
          </a:xfrm>
          <a:prstGeom prst="line">
            <a:avLst/>
          </a:prstGeom>
          <a:ln w="12700">
            <a:solidFill>
              <a:srgbClr val="6B768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80960" y="2743200"/>
            <a:ext cx="2560320" cy="274320"/>
          </a:xfrm>
          <a:prstGeom prst="rect">
            <a:avLst/>
          </a:prstGeom>
          <a:noFill/>
        </p:spPr>
        <p:txBody>
          <a:bodyPr wrap="square" lIns="0" rIns="0" tIns="0" bIns="0" anchor="t">
            <a:spAutoFit/>
          </a:bodyPr>
          <a:lstStyle/>
          <a:p>
            <a:pPr algn="ctr"/>
            <a:r>
              <a:rPr sz="1100" b="1" i="0">
                <a:solidFill>
                  <a:srgbClr val="0C1727"/>
                </a:solidFill>
                <a:latin typeface="Calibri"/>
              </a:rPr>
              <a:t>Interventionist</a:t>
            </a:r>
          </a:p>
        </p:txBody>
      </p:sp>
      <p:sp>
        <p:nvSpPr>
          <p:cNvPr id="18" name="TextBox 17"/>
          <p:cNvSpPr txBox="1"/>
          <p:nvPr/>
        </p:nvSpPr>
        <p:spPr>
          <a:xfrm>
            <a:off x="6263640" y="5577840"/>
            <a:ext cx="1828800" cy="274320"/>
          </a:xfrm>
          <a:prstGeom prst="rect">
            <a:avLst/>
          </a:prstGeom>
          <a:noFill/>
        </p:spPr>
        <p:txBody>
          <a:bodyPr wrap="square" lIns="0" rIns="0" tIns="0" bIns="0" anchor="t">
            <a:spAutoFit/>
          </a:bodyPr>
          <a:lstStyle/>
          <a:p>
            <a:pPr algn="ctr"/>
            <a:r>
              <a:rPr sz="1100" b="1" i="0">
                <a:solidFill>
                  <a:srgbClr val="0C1727"/>
                </a:solidFill>
                <a:latin typeface="Calibri"/>
              </a:rPr>
              <a:t>Autonomous</a:t>
            </a:r>
          </a:p>
        </p:txBody>
      </p:sp>
      <p:sp>
        <p:nvSpPr>
          <p:cNvPr id="19" name="TextBox 18"/>
          <p:cNvSpPr txBox="1"/>
          <p:nvPr/>
        </p:nvSpPr>
        <p:spPr>
          <a:xfrm>
            <a:off x="9829800" y="5577840"/>
            <a:ext cx="1828800" cy="274320"/>
          </a:xfrm>
          <a:prstGeom prst="rect">
            <a:avLst/>
          </a:prstGeom>
          <a:noFill/>
        </p:spPr>
        <p:txBody>
          <a:bodyPr wrap="square" lIns="0" rIns="0" tIns="0" bIns="0" anchor="t">
            <a:spAutoFit/>
          </a:bodyPr>
          <a:lstStyle/>
          <a:p>
            <a:pPr algn="ctr"/>
            <a:r>
              <a:rPr sz="1100" b="1" i="0">
                <a:solidFill>
                  <a:srgbClr val="0C1727"/>
                </a:solidFill>
                <a:latin typeface="Calibri"/>
              </a:rPr>
              <a:t>Diagnostic</a:t>
            </a:r>
          </a:p>
        </p:txBody>
      </p:sp>
      <p:sp>
        <p:nvSpPr>
          <p:cNvPr id="20" name="Oval 19"/>
          <p:cNvSpPr/>
          <p:nvPr/>
        </p:nvSpPr>
        <p:spPr>
          <a:xfrm>
            <a:off x="8593531" y="4142232"/>
            <a:ext cx="164592" cy="164592"/>
          </a:xfrm>
          <a:prstGeom prst="ellipse">
            <a:avLst/>
          </a:prstGeom>
          <a:solidFill>
            <a:srgbClr val="1A365D"/>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85555" y="4114800"/>
            <a:ext cx="1005840" cy="228600"/>
          </a:xfrm>
          <a:prstGeom prst="rect">
            <a:avLst/>
          </a:prstGeom>
          <a:noFill/>
        </p:spPr>
        <p:txBody>
          <a:bodyPr wrap="square" lIns="0" rIns="0" tIns="0" bIns="0" anchor="t">
            <a:spAutoFit/>
          </a:bodyPr>
          <a:lstStyle/>
          <a:p>
            <a:pPr algn="l"/>
            <a:r>
              <a:rPr sz="1000" b="1" i="0">
                <a:solidFill>
                  <a:srgbClr val="1A202C"/>
                </a:solidFill>
                <a:latin typeface="Calibri"/>
              </a:rPr>
              <a:t>Powell</a:t>
            </a:r>
          </a:p>
        </p:txBody>
      </p:sp>
      <p:sp>
        <p:nvSpPr>
          <p:cNvPr id="22" name="Oval 21"/>
          <p:cNvSpPr/>
          <p:nvPr/>
        </p:nvSpPr>
        <p:spPr>
          <a:xfrm>
            <a:off x="8878824" y="4593945"/>
            <a:ext cx="164592" cy="164592"/>
          </a:xfrm>
          <a:prstGeom prst="ellipse">
            <a:avLst/>
          </a:prstGeom>
          <a:solidFill>
            <a:srgbClr val="8B153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70848" y="4566513"/>
            <a:ext cx="1005840" cy="228600"/>
          </a:xfrm>
          <a:prstGeom prst="rect">
            <a:avLst/>
          </a:prstGeom>
          <a:noFill/>
        </p:spPr>
        <p:txBody>
          <a:bodyPr wrap="square" lIns="0" rIns="0" tIns="0" bIns="0" anchor="t">
            <a:spAutoFit/>
          </a:bodyPr>
          <a:lstStyle/>
          <a:p>
            <a:pPr algn="l"/>
            <a:r>
              <a:rPr sz="1000" b="1" i="0">
                <a:solidFill>
                  <a:srgbClr val="1A202C"/>
                </a:solidFill>
                <a:latin typeface="Calibri"/>
              </a:rPr>
              <a:t>Waller</a:t>
            </a:r>
          </a:p>
        </p:txBody>
      </p:sp>
      <p:sp>
        <p:nvSpPr>
          <p:cNvPr id="24" name="Oval 23"/>
          <p:cNvSpPr/>
          <p:nvPr/>
        </p:nvSpPr>
        <p:spPr>
          <a:xfrm>
            <a:off x="8950147" y="4665268"/>
            <a:ext cx="164592" cy="164592"/>
          </a:xfrm>
          <a:prstGeom prst="ellipse">
            <a:avLst/>
          </a:prstGeom>
          <a:solidFill>
            <a:srgbClr val="B7791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2171" y="4637836"/>
            <a:ext cx="1005840" cy="228600"/>
          </a:xfrm>
          <a:prstGeom prst="rect">
            <a:avLst/>
          </a:prstGeom>
          <a:noFill/>
        </p:spPr>
        <p:txBody>
          <a:bodyPr wrap="square" lIns="0" rIns="0" tIns="0" bIns="0" anchor="t">
            <a:spAutoFit/>
          </a:bodyPr>
          <a:lstStyle/>
          <a:p>
            <a:pPr algn="l"/>
            <a:r>
              <a:rPr sz="1000" b="1" i="0">
                <a:solidFill>
                  <a:srgbClr val="1A202C"/>
                </a:solidFill>
                <a:latin typeface="Calibri"/>
              </a:rPr>
              <a:t>Bowman</a:t>
            </a:r>
          </a:p>
        </p:txBody>
      </p:sp>
      <p:sp>
        <p:nvSpPr>
          <p:cNvPr id="26" name="Oval 25"/>
          <p:cNvSpPr/>
          <p:nvPr/>
        </p:nvSpPr>
        <p:spPr>
          <a:xfrm>
            <a:off x="9413748" y="4855464"/>
            <a:ext cx="164592" cy="164592"/>
          </a:xfrm>
          <a:prstGeom prst="ellipse">
            <a:avLst/>
          </a:prstGeom>
          <a:solidFill>
            <a:srgbClr val="2F6E3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5772" y="4828032"/>
            <a:ext cx="1005840" cy="228600"/>
          </a:xfrm>
          <a:prstGeom prst="rect">
            <a:avLst/>
          </a:prstGeom>
          <a:noFill/>
        </p:spPr>
        <p:txBody>
          <a:bodyPr wrap="square" lIns="0" rIns="0" tIns="0" bIns="0" anchor="t">
            <a:spAutoFit/>
          </a:bodyPr>
          <a:lstStyle/>
          <a:p>
            <a:pPr algn="l"/>
            <a:r>
              <a:rPr sz="1000" b="1" i="0">
                <a:solidFill>
                  <a:srgbClr val="1A202C"/>
                </a:solidFill>
                <a:latin typeface="Calibri"/>
              </a:rPr>
              <a:t>Brainard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PROOF</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07 / 14</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731520"/>
          </a:xfrm>
          <a:prstGeom prst="rect">
            <a:avLst/>
          </a:prstGeom>
          <a:noFill/>
        </p:spPr>
        <p:txBody>
          <a:bodyPr wrap="square" lIns="0" rIns="0" tIns="0" bIns="0" anchor="t">
            <a:spAutoFit/>
          </a:bodyPr>
          <a:lstStyle/>
          <a:p>
            <a:pPr algn="l">
              <a:lnSpc>
                <a:spcPct val="110000"/>
              </a:lnSpc>
            </a:pPr>
            <a:r>
              <a:rPr sz="3600" b="0" i="0">
                <a:solidFill>
                  <a:srgbClr val="0C1727"/>
                </a:solidFill>
                <a:latin typeface="Calibri Light"/>
              </a:rPr>
              <a:t>A 4-governor hand-validated pilot</a:t>
            </a:r>
          </a:p>
        </p:txBody>
      </p:sp>
      <p:sp>
        <p:nvSpPr>
          <p:cNvPr id="7" name="TextBox 6"/>
          <p:cNvSpPr txBox="1"/>
          <p:nvPr/>
        </p:nvSpPr>
        <p:spPr>
          <a:xfrm>
            <a:off x="640080" y="2057400"/>
            <a:ext cx="1828800" cy="320040"/>
          </a:xfrm>
          <a:prstGeom prst="rect">
            <a:avLst/>
          </a:prstGeom>
          <a:noFill/>
        </p:spPr>
        <p:txBody>
          <a:bodyPr wrap="square" lIns="0" rIns="0" tIns="0" bIns="0" anchor="t">
            <a:spAutoFit/>
          </a:bodyPr>
          <a:lstStyle/>
          <a:p>
            <a:pPr algn="l"/>
            <a:r>
              <a:rPr sz="1100" b="1" i="0">
                <a:solidFill>
                  <a:srgbClr val="C9A227"/>
                </a:solidFill>
                <a:latin typeface="Calibri"/>
              </a:rPr>
              <a:t>Corpus.</a:t>
            </a:r>
          </a:p>
        </p:txBody>
      </p:sp>
      <p:sp>
        <p:nvSpPr>
          <p:cNvPr id="8" name="TextBox 7"/>
          <p:cNvSpPr txBox="1"/>
          <p:nvPr/>
        </p:nvSpPr>
        <p:spPr>
          <a:xfrm>
            <a:off x="1554480" y="2057400"/>
            <a:ext cx="9875520" cy="731520"/>
          </a:xfrm>
          <a:prstGeom prst="rect">
            <a:avLst/>
          </a:prstGeom>
          <a:noFill/>
        </p:spPr>
        <p:txBody>
          <a:bodyPr wrap="square" lIns="0" rIns="0" tIns="0" bIns="0" anchor="t">
            <a:spAutoFit/>
          </a:bodyPr>
          <a:lstStyle/>
          <a:p>
            <a:pPr algn="l">
              <a:lnSpc>
                <a:spcPct val="140000"/>
              </a:lnSpc>
            </a:pPr>
            <a:r>
              <a:rPr sz="1200" b="0" i="0">
                <a:solidFill>
                  <a:srgbClr val="333D4D"/>
                </a:solidFill>
                <a:latin typeface="Calibri"/>
              </a:rPr>
              <a:t>Four Federal Reserve governors, one speech each, August 2022 – March 2023. 323 hand-validated metaphor expressions across 6,901 words of policy text. Annotation by a cognitive linguist on top of schema-constrained LLM extraction.</a:t>
            </a:r>
          </a:p>
        </p:txBody>
      </p:sp>
      <p:sp>
        <p:nvSpPr>
          <p:cNvPr id="9" name="TextBox 8"/>
          <p:cNvSpPr txBox="1"/>
          <p:nvPr/>
        </p:nvSpPr>
        <p:spPr>
          <a:xfrm>
            <a:off x="640080" y="2971800"/>
            <a:ext cx="10972800" cy="320040"/>
          </a:xfrm>
          <a:prstGeom prst="rect">
            <a:avLst/>
          </a:prstGeom>
          <a:noFill/>
        </p:spPr>
        <p:txBody>
          <a:bodyPr wrap="square" lIns="0" rIns="0" tIns="0" bIns="0" anchor="t">
            <a:spAutoFit/>
          </a:bodyPr>
          <a:lstStyle/>
          <a:p>
            <a:pPr algn="l"/>
            <a:r>
              <a:rPr sz="1300" b="1" i="0">
                <a:solidFill>
                  <a:srgbClr val="0C1727"/>
                </a:solidFill>
                <a:latin typeface="Calibri"/>
              </a:rPr>
              <a:t>Headline finding — Powell is a measurable outlier:</a:t>
            </a:r>
          </a:p>
        </p:txBody>
      </p:sp>
      <p:sp>
        <p:nvSpPr>
          <p:cNvPr id="10" name="TextBox 9"/>
          <p:cNvSpPr txBox="1"/>
          <p:nvPr/>
        </p:nvSpPr>
        <p:spPr>
          <a:xfrm>
            <a:off x="640080" y="3429000"/>
            <a:ext cx="3108960" cy="329184"/>
          </a:xfrm>
          <a:prstGeom prst="rect">
            <a:avLst/>
          </a:prstGeom>
          <a:noFill/>
        </p:spPr>
        <p:txBody>
          <a:bodyPr wrap="square" lIns="0" rIns="0" tIns="0" bIns="0" anchor="ctr">
            <a:spAutoFit/>
          </a:bodyPr>
          <a:lstStyle/>
          <a:p>
            <a:pPr algn="l"/>
            <a:r>
              <a:rPr sz="1000" b="1" i="0">
                <a:solidFill>
                  <a:srgbClr val="C9A227"/>
                </a:solidFill>
                <a:latin typeface="Calibri"/>
              </a:rPr>
              <a:t/>
            </a:r>
          </a:p>
        </p:txBody>
      </p:sp>
      <p:sp>
        <p:nvSpPr>
          <p:cNvPr id="11" name="TextBox 10"/>
          <p:cNvSpPr txBox="1"/>
          <p:nvPr/>
        </p:nvSpPr>
        <p:spPr>
          <a:xfrm>
            <a:off x="3749039" y="3429000"/>
            <a:ext cx="2651760" cy="329184"/>
          </a:xfrm>
          <a:prstGeom prst="rect">
            <a:avLst/>
          </a:prstGeom>
          <a:noFill/>
        </p:spPr>
        <p:txBody>
          <a:bodyPr wrap="square" lIns="0" rIns="0" tIns="0" bIns="0" anchor="ctr">
            <a:spAutoFit/>
          </a:bodyPr>
          <a:lstStyle/>
          <a:p>
            <a:pPr algn="r"/>
            <a:r>
              <a:rPr sz="1000" b="1" i="0">
                <a:solidFill>
                  <a:srgbClr val="C9A227"/>
                </a:solidFill>
                <a:latin typeface="Calibri"/>
              </a:rPr>
              <a:t>Interventionist</a:t>
            </a:r>
          </a:p>
        </p:txBody>
      </p:sp>
      <p:sp>
        <p:nvSpPr>
          <p:cNvPr id="12" name="TextBox 11"/>
          <p:cNvSpPr txBox="1"/>
          <p:nvPr/>
        </p:nvSpPr>
        <p:spPr>
          <a:xfrm>
            <a:off x="6400800" y="3429000"/>
            <a:ext cx="2651760" cy="329184"/>
          </a:xfrm>
          <a:prstGeom prst="rect">
            <a:avLst/>
          </a:prstGeom>
          <a:noFill/>
        </p:spPr>
        <p:txBody>
          <a:bodyPr wrap="square" lIns="0" rIns="0" tIns="0" bIns="0" anchor="ctr">
            <a:spAutoFit/>
          </a:bodyPr>
          <a:lstStyle/>
          <a:p>
            <a:pPr algn="r"/>
            <a:r>
              <a:rPr sz="1000" b="1" i="0">
                <a:solidFill>
                  <a:srgbClr val="C9A227"/>
                </a:solidFill>
                <a:latin typeface="Calibri"/>
              </a:rPr>
              <a:t>Forward-looking</a:t>
            </a:r>
          </a:p>
        </p:txBody>
      </p:sp>
      <p:sp>
        <p:nvSpPr>
          <p:cNvPr id="13" name="TextBox 12"/>
          <p:cNvSpPr txBox="1"/>
          <p:nvPr/>
        </p:nvSpPr>
        <p:spPr>
          <a:xfrm>
            <a:off x="9052560" y="3429000"/>
            <a:ext cx="3108960" cy="329184"/>
          </a:xfrm>
          <a:prstGeom prst="rect">
            <a:avLst/>
          </a:prstGeom>
          <a:noFill/>
        </p:spPr>
        <p:txBody>
          <a:bodyPr wrap="square" lIns="0" rIns="0" tIns="0" bIns="0" anchor="ctr">
            <a:spAutoFit/>
          </a:bodyPr>
          <a:lstStyle/>
          <a:p>
            <a:pPr algn="r"/>
            <a:r>
              <a:rPr sz="1000" b="1" i="0">
                <a:solidFill>
                  <a:srgbClr val="C9A227"/>
                </a:solidFill>
                <a:latin typeface="Calibri"/>
              </a:rPr>
              <a:t>Forward-guidance share</a:t>
            </a:r>
          </a:p>
        </p:txBody>
      </p:sp>
      <p:cxnSp>
        <p:nvCxnSpPr>
          <p:cNvPr id="14" name="Connector 13"/>
          <p:cNvCxnSpPr/>
          <p:nvPr/>
        </p:nvCxnSpPr>
        <p:spPr>
          <a:xfrm>
            <a:off x="640080" y="3739896"/>
            <a:ext cx="11521439" cy="0"/>
          </a:xfrm>
          <a:prstGeom prst="line">
            <a:avLst/>
          </a:prstGeom>
          <a:ln w="15875">
            <a:solidFill>
              <a:srgbClr val="C9A22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3758184"/>
            <a:ext cx="3108960" cy="329184"/>
          </a:xfrm>
          <a:prstGeom prst="rect">
            <a:avLst/>
          </a:prstGeom>
          <a:noFill/>
        </p:spPr>
        <p:txBody>
          <a:bodyPr wrap="square" lIns="0" rIns="0" tIns="0" bIns="0" anchor="ctr">
            <a:spAutoFit/>
          </a:bodyPr>
          <a:lstStyle/>
          <a:p>
            <a:pPr algn="l"/>
            <a:r>
              <a:rPr sz="1300" b="1" i="0">
                <a:solidFill>
                  <a:srgbClr val="0C1727"/>
                </a:solidFill>
                <a:latin typeface="Calibri"/>
              </a:rPr>
              <a:t>Powell (Jackson Hole)</a:t>
            </a:r>
          </a:p>
        </p:txBody>
      </p:sp>
      <p:sp>
        <p:nvSpPr>
          <p:cNvPr id="16" name="TextBox 15"/>
          <p:cNvSpPr txBox="1"/>
          <p:nvPr/>
        </p:nvSpPr>
        <p:spPr>
          <a:xfrm>
            <a:off x="3749039" y="3758184"/>
            <a:ext cx="2651760" cy="329184"/>
          </a:xfrm>
          <a:prstGeom prst="rect">
            <a:avLst/>
          </a:prstGeom>
          <a:noFill/>
        </p:spPr>
        <p:txBody>
          <a:bodyPr wrap="square" lIns="0" rIns="0" tIns="0" bIns="0" anchor="ctr">
            <a:spAutoFit/>
          </a:bodyPr>
          <a:lstStyle/>
          <a:p>
            <a:pPr algn="r"/>
            <a:r>
              <a:rPr sz="1300" b="1" i="0">
                <a:solidFill>
                  <a:srgbClr val="0C1727"/>
                </a:solidFill>
                <a:latin typeface="Calibri"/>
              </a:rPr>
              <a:t>47%</a:t>
            </a:r>
          </a:p>
        </p:txBody>
      </p:sp>
      <p:sp>
        <p:nvSpPr>
          <p:cNvPr id="17" name="TextBox 16"/>
          <p:cNvSpPr txBox="1"/>
          <p:nvPr/>
        </p:nvSpPr>
        <p:spPr>
          <a:xfrm>
            <a:off x="6400800" y="3758184"/>
            <a:ext cx="2651760" cy="329184"/>
          </a:xfrm>
          <a:prstGeom prst="rect">
            <a:avLst/>
          </a:prstGeom>
          <a:noFill/>
        </p:spPr>
        <p:txBody>
          <a:bodyPr wrap="square" lIns="0" rIns="0" tIns="0" bIns="0" anchor="ctr">
            <a:spAutoFit/>
          </a:bodyPr>
          <a:lstStyle/>
          <a:p>
            <a:pPr algn="r"/>
            <a:r>
              <a:rPr sz="1300" b="1" i="0">
                <a:solidFill>
                  <a:srgbClr val="0C1727"/>
                </a:solidFill>
                <a:latin typeface="Calibri"/>
              </a:rPr>
              <a:t>54%</a:t>
            </a:r>
          </a:p>
        </p:txBody>
      </p:sp>
      <p:sp>
        <p:nvSpPr>
          <p:cNvPr id="18" name="TextBox 17"/>
          <p:cNvSpPr txBox="1"/>
          <p:nvPr/>
        </p:nvSpPr>
        <p:spPr>
          <a:xfrm>
            <a:off x="9052560" y="3758184"/>
            <a:ext cx="3108960" cy="329184"/>
          </a:xfrm>
          <a:prstGeom prst="rect">
            <a:avLst/>
          </a:prstGeom>
          <a:noFill/>
        </p:spPr>
        <p:txBody>
          <a:bodyPr wrap="square" lIns="0" rIns="0" tIns="0" bIns="0" anchor="ctr">
            <a:spAutoFit/>
          </a:bodyPr>
          <a:lstStyle/>
          <a:p>
            <a:pPr algn="r"/>
            <a:r>
              <a:rPr sz="1300" b="1" i="0">
                <a:solidFill>
                  <a:srgbClr val="0C1727"/>
                </a:solidFill>
                <a:latin typeface="Calibri"/>
              </a:rPr>
              <a:t>40%</a:t>
            </a:r>
          </a:p>
        </p:txBody>
      </p:sp>
      <p:cxnSp>
        <p:nvCxnSpPr>
          <p:cNvPr id="19" name="Connector 18"/>
          <p:cNvCxnSpPr/>
          <p:nvPr/>
        </p:nvCxnSpPr>
        <p:spPr>
          <a:xfrm>
            <a:off x="640080" y="4069080"/>
            <a:ext cx="11521439" cy="0"/>
          </a:xfrm>
          <a:prstGeom prst="line">
            <a:avLst/>
          </a:prstGeom>
          <a:ln w="5080">
            <a:solidFill>
              <a:srgbClr val="CFD4D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4087368"/>
            <a:ext cx="3108960" cy="329184"/>
          </a:xfrm>
          <a:prstGeom prst="rect">
            <a:avLst/>
          </a:prstGeom>
          <a:noFill/>
        </p:spPr>
        <p:txBody>
          <a:bodyPr wrap="square" lIns="0" rIns="0" tIns="0" bIns="0" anchor="ctr">
            <a:spAutoFit/>
          </a:bodyPr>
          <a:lstStyle/>
          <a:p>
            <a:pPr algn="l"/>
            <a:r>
              <a:rPr sz="1200" b="0" i="0">
                <a:solidFill>
                  <a:srgbClr val="1A202C"/>
                </a:solidFill>
                <a:latin typeface="Calibri"/>
              </a:rPr>
              <a:t>Waller</a:t>
            </a:r>
          </a:p>
        </p:txBody>
      </p:sp>
      <p:sp>
        <p:nvSpPr>
          <p:cNvPr id="21" name="TextBox 20"/>
          <p:cNvSpPr txBox="1"/>
          <p:nvPr/>
        </p:nvSpPr>
        <p:spPr>
          <a:xfrm>
            <a:off x="3749039" y="4087368"/>
            <a:ext cx="2651760" cy="329184"/>
          </a:xfrm>
          <a:prstGeom prst="rect">
            <a:avLst/>
          </a:prstGeom>
          <a:noFill/>
        </p:spPr>
        <p:txBody>
          <a:bodyPr wrap="square" lIns="0" rIns="0" tIns="0" bIns="0" anchor="ctr">
            <a:spAutoFit/>
          </a:bodyPr>
          <a:lstStyle/>
          <a:p>
            <a:pPr algn="r"/>
            <a:r>
              <a:rPr sz="1200" b="0" i="0">
                <a:solidFill>
                  <a:srgbClr val="1A202C"/>
                </a:solidFill>
                <a:latin typeface="Calibri"/>
              </a:rPr>
              <a:t>33%</a:t>
            </a:r>
          </a:p>
        </p:txBody>
      </p:sp>
      <p:sp>
        <p:nvSpPr>
          <p:cNvPr id="22" name="TextBox 21"/>
          <p:cNvSpPr txBox="1"/>
          <p:nvPr/>
        </p:nvSpPr>
        <p:spPr>
          <a:xfrm>
            <a:off x="6400800" y="4087368"/>
            <a:ext cx="2651760" cy="329184"/>
          </a:xfrm>
          <a:prstGeom prst="rect">
            <a:avLst/>
          </a:prstGeom>
          <a:noFill/>
        </p:spPr>
        <p:txBody>
          <a:bodyPr wrap="square" lIns="0" rIns="0" tIns="0" bIns="0" anchor="ctr">
            <a:spAutoFit/>
          </a:bodyPr>
          <a:lstStyle/>
          <a:p>
            <a:pPr algn="r"/>
            <a:r>
              <a:rPr sz="1200" b="0" i="0">
                <a:solidFill>
                  <a:srgbClr val="1A202C"/>
                </a:solidFill>
                <a:latin typeface="Calibri"/>
              </a:rPr>
              <a:t>29%</a:t>
            </a:r>
          </a:p>
        </p:txBody>
      </p:sp>
      <p:sp>
        <p:nvSpPr>
          <p:cNvPr id="23" name="TextBox 22"/>
          <p:cNvSpPr txBox="1"/>
          <p:nvPr/>
        </p:nvSpPr>
        <p:spPr>
          <a:xfrm>
            <a:off x="9052560" y="4087368"/>
            <a:ext cx="3108960" cy="329184"/>
          </a:xfrm>
          <a:prstGeom prst="rect">
            <a:avLst/>
          </a:prstGeom>
          <a:noFill/>
        </p:spPr>
        <p:txBody>
          <a:bodyPr wrap="square" lIns="0" rIns="0" tIns="0" bIns="0" anchor="ctr">
            <a:spAutoFit/>
          </a:bodyPr>
          <a:lstStyle/>
          <a:p>
            <a:pPr algn="r"/>
            <a:r>
              <a:rPr sz="1200" b="0" i="0">
                <a:solidFill>
                  <a:srgbClr val="1A202C"/>
                </a:solidFill>
                <a:latin typeface="Calibri"/>
              </a:rPr>
              <a:t>19%</a:t>
            </a:r>
          </a:p>
        </p:txBody>
      </p:sp>
      <p:cxnSp>
        <p:nvCxnSpPr>
          <p:cNvPr id="24" name="Connector 23"/>
          <p:cNvCxnSpPr/>
          <p:nvPr/>
        </p:nvCxnSpPr>
        <p:spPr>
          <a:xfrm>
            <a:off x="640080" y="4398264"/>
            <a:ext cx="11521439" cy="0"/>
          </a:xfrm>
          <a:prstGeom prst="line">
            <a:avLst/>
          </a:prstGeom>
          <a:ln w="5080">
            <a:solidFill>
              <a:srgbClr val="CFD4D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4416552"/>
            <a:ext cx="3108960" cy="329184"/>
          </a:xfrm>
          <a:prstGeom prst="rect">
            <a:avLst/>
          </a:prstGeom>
          <a:noFill/>
        </p:spPr>
        <p:txBody>
          <a:bodyPr wrap="square" lIns="0" rIns="0" tIns="0" bIns="0" anchor="ctr">
            <a:spAutoFit/>
          </a:bodyPr>
          <a:lstStyle/>
          <a:p>
            <a:pPr algn="l"/>
            <a:r>
              <a:rPr sz="1200" b="0" i="0">
                <a:solidFill>
                  <a:srgbClr val="1A202C"/>
                </a:solidFill>
                <a:latin typeface="Calibri"/>
              </a:rPr>
              <a:t>Bowman</a:t>
            </a:r>
          </a:p>
        </p:txBody>
      </p:sp>
      <p:sp>
        <p:nvSpPr>
          <p:cNvPr id="26" name="TextBox 25"/>
          <p:cNvSpPr txBox="1"/>
          <p:nvPr/>
        </p:nvSpPr>
        <p:spPr>
          <a:xfrm>
            <a:off x="3749039" y="4416552"/>
            <a:ext cx="2651760" cy="329184"/>
          </a:xfrm>
          <a:prstGeom prst="rect">
            <a:avLst/>
          </a:prstGeom>
          <a:noFill/>
        </p:spPr>
        <p:txBody>
          <a:bodyPr wrap="square" lIns="0" rIns="0" tIns="0" bIns="0" anchor="ctr">
            <a:spAutoFit/>
          </a:bodyPr>
          <a:lstStyle/>
          <a:p>
            <a:pPr algn="r"/>
            <a:r>
              <a:rPr sz="1200" b="0" i="0">
                <a:solidFill>
                  <a:srgbClr val="1A202C"/>
                </a:solidFill>
                <a:latin typeface="Calibri"/>
              </a:rPr>
              <a:t>30%</a:t>
            </a:r>
          </a:p>
        </p:txBody>
      </p:sp>
      <p:sp>
        <p:nvSpPr>
          <p:cNvPr id="27" name="TextBox 26"/>
          <p:cNvSpPr txBox="1"/>
          <p:nvPr/>
        </p:nvSpPr>
        <p:spPr>
          <a:xfrm>
            <a:off x="6400800" y="4416552"/>
            <a:ext cx="2651760" cy="329184"/>
          </a:xfrm>
          <a:prstGeom prst="rect">
            <a:avLst/>
          </a:prstGeom>
          <a:noFill/>
        </p:spPr>
        <p:txBody>
          <a:bodyPr wrap="square" lIns="0" rIns="0" tIns="0" bIns="0" anchor="ctr">
            <a:spAutoFit/>
          </a:bodyPr>
          <a:lstStyle/>
          <a:p>
            <a:pPr algn="r"/>
            <a:r>
              <a:rPr sz="1200" b="0" i="0">
                <a:solidFill>
                  <a:srgbClr val="1A202C"/>
                </a:solidFill>
                <a:latin typeface="Calibri"/>
              </a:rPr>
              <a:t>40%</a:t>
            </a:r>
          </a:p>
        </p:txBody>
      </p:sp>
      <p:sp>
        <p:nvSpPr>
          <p:cNvPr id="28" name="TextBox 27"/>
          <p:cNvSpPr txBox="1"/>
          <p:nvPr/>
        </p:nvSpPr>
        <p:spPr>
          <a:xfrm>
            <a:off x="9052560" y="4416552"/>
            <a:ext cx="3108960" cy="329184"/>
          </a:xfrm>
          <a:prstGeom prst="rect">
            <a:avLst/>
          </a:prstGeom>
          <a:noFill/>
        </p:spPr>
        <p:txBody>
          <a:bodyPr wrap="square" lIns="0" rIns="0" tIns="0" bIns="0" anchor="ctr">
            <a:spAutoFit/>
          </a:bodyPr>
          <a:lstStyle/>
          <a:p>
            <a:pPr algn="r"/>
            <a:r>
              <a:rPr sz="1200" b="0" i="0">
                <a:solidFill>
                  <a:srgbClr val="1A202C"/>
                </a:solidFill>
                <a:latin typeface="Calibri"/>
              </a:rPr>
              <a:t>17%</a:t>
            </a:r>
          </a:p>
        </p:txBody>
      </p:sp>
      <p:cxnSp>
        <p:nvCxnSpPr>
          <p:cNvPr id="29" name="Connector 28"/>
          <p:cNvCxnSpPr/>
          <p:nvPr/>
        </p:nvCxnSpPr>
        <p:spPr>
          <a:xfrm>
            <a:off x="640080" y="4727448"/>
            <a:ext cx="11521439" cy="0"/>
          </a:xfrm>
          <a:prstGeom prst="line">
            <a:avLst/>
          </a:prstGeom>
          <a:ln w="5080">
            <a:solidFill>
              <a:srgbClr val="CFD4D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0080" y="4745736"/>
            <a:ext cx="3108960" cy="329184"/>
          </a:xfrm>
          <a:prstGeom prst="rect">
            <a:avLst/>
          </a:prstGeom>
          <a:noFill/>
        </p:spPr>
        <p:txBody>
          <a:bodyPr wrap="square" lIns="0" rIns="0" tIns="0" bIns="0" anchor="ctr">
            <a:spAutoFit/>
          </a:bodyPr>
          <a:lstStyle/>
          <a:p>
            <a:pPr algn="l"/>
            <a:r>
              <a:rPr sz="1200" b="0" i="0">
                <a:solidFill>
                  <a:srgbClr val="1A202C"/>
                </a:solidFill>
                <a:latin typeface="Calibri"/>
              </a:rPr>
              <a:t>Brainard</a:t>
            </a:r>
          </a:p>
        </p:txBody>
      </p:sp>
      <p:sp>
        <p:nvSpPr>
          <p:cNvPr id="31" name="TextBox 30"/>
          <p:cNvSpPr txBox="1"/>
          <p:nvPr/>
        </p:nvSpPr>
        <p:spPr>
          <a:xfrm>
            <a:off x="3749039" y="4745736"/>
            <a:ext cx="2651760" cy="329184"/>
          </a:xfrm>
          <a:prstGeom prst="rect">
            <a:avLst/>
          </a:prstGeom>
          <a:noFill/>
        </p:spPr>
        <p:txBody>
          <a:bodyPr wrap="square" lIns="0" rIns="0" tIns="0" bIns="0" anchor="ctr">
            <a:spAutoFit/>
          </a:bodyPr>
          <a:lstStyle/>
          <a:p>
            <a:pPr algn="r"/>
            <a:r>
              <a:rPr sz="1200" b="0" i="0">
                <a:solidFill>
                  <a:srgbClr val="1A202C"/>
                </a:solidFill>
                <a:latin typeface="Calibri"/>
              </a:rPr>
              <a:t>23%</a:t>
            </a:r>
          </a:p>
        </p:txBody>
      </p:sp>
      <p:sp>
        <p:nvSpPr>
          <p:cNvPr id="32" name="TextBox 31"/>
          <p:cNvSpPr txBox="1"/>
          <p:nvPr/>
        </p:nvSpPr>
        <p:spPr>
          <a:xfrm>
            <a:off x="6400800" y="4745736"/>
            <a:ext cx="2651760" cy="329184"/>
          </a:xfrm>
          <a:prstGeom prst="rect">
            <a:avLst/>
          </a:prstGeom>
          <a:noFill/>
        </p:spPr>
        <p:txBody>
          <a:bodyPr wrap="square" lIns="0" rIns="0" tIns="0" bIns="0" anchor="ctr">
            <a:spAutoFit/>
          </a:bodyPr>
          <a:lstStyle/>
          <a:p>
            <a:pPr algn="r"/>
            <a:r>
              <a:rPr sz="1200" b="0" i="0">
                <a:solidFill>
                  <a:srgbClr val="1A202C"/>
                </a:solidFill>
                <a:latin typeface="Calibri"/>
              </a:rPr>
              <a:t>35%</a:t>
            </a:r>
          </a:p>
        </p:txBody>
      </p:sp>
      <p:sp>
        <p:nvSpPr>
          <p:cNvPr id="33" name="TextBox 32"/>
          <p:cNvSpPr txBox="1"/>
          <p:nvPr/>
        </p:nvSpPr>
        <p:spPr>
          <a:xfrm>
            <a:off x="9052560" y="4745736"/>
            <a:ext cx="3108960" cy="329184"/>
          </a:xfrm>
          <a:prstGeom prst="rect">
            <a:avLst/>
          </a:prstGeom>
          <a:noFill/>
        </p:spPr>
        <p:txBody>
          <a:bodyPr wrap="square" lIns="0" rIns="0" tIns="0" bIns="0" anchor="ctr">
            <a:spAutoFit/>
          </a:bodyPr>
          <a:lstStyle/>
          <a:p>
            <a:pPr algn="r"/>
            <a:r>
              <a:rPr sz="1200" b="0" i="0">
                <a:solidFill>
                  <a:srgbClr val="1A202C"/>
                </a:solidFill>
                <a:latin typeface="Calibri"/>
              </a:rPr>
              <a:t>17%</a:t>
            </a:r>
          </a:p>
        </p:txBody>
      </p:sp>
      <p:cxnSp>
        <p:nvCxnSpPr>
          <p:cNvPr id="34" name="Connector 33"/>
          <p:cNvCxnSpPr/>
          <p:nvPr/>
        </p:nvCxnSpPr>
        <p:spPr>
          <a:xfrm>
            <a:off x="640080" y="5056632"/>
            <a:ext cx="11521439" cy="0"/>
          </a:xfrm>
          <a:prstGeom prst="line">
            <a:avLst/>
          </a:prstGeom>
          <a:ln w="5080">
            <a:solidFill>
              <a:srgbClr val="CFD4D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5349240"/>
            <a:ext cx="10972800" cy="320040"/>
          </a:xfrm>
          <a:prstGeom prst="rect">
            <a:avLst/>
          </a:prstGeom>
          <a:noFill/>
        </p:spPr>
        <p:txBody>
          <a:bodyPr wrap="square" lIns="0" rIns="0" tIns="0" bIns="0" anchor="t">
            <a:spAutoFit/>
          </a:bodyPr>
          <a:lstStyle/>
          <a:p>
            <a:pPr algn="l"/>
            <a:r>
              <a:rPr sz="1100" b="1" i="0">
                <a:solidFill>
                  <a:srgbClr val="0C1727"/>
                </a:solidFill>
                <a:latin typeface="Calibri"/>
              </a:rPr>
              <a:t>Statistical significance (the slide carries this number prominently):</a:t>
            </a:r>
          </a:p>
        </p:txBody>
      </p:sp>
      <p:sp>
        <p:nvSpPr>
          <p:cNvPr id="36" name="TextBox 35"/>
          <p:cNvSpPr txBox="1"/>
          <p:nvPr/>
        </p:nvSpPr>
        <p:spPr>
          <a:xfrm>
            <a:off x="868680" y="5669280"/>
            <a:ext cx="10972800" cy="548640"/>
          </a:xfrm>
          <a:prstGeom prst="rect">
            <a:avLst/>
          </a:prstGeom>
          <a:noFill/>
        </p:spPr>
        <p:txBody>
          <a:bodyPr wrap="square" lIns="0" rIns="0" tIns="0" bIns="0" anchor="t">
            <a:spAutoFit/>
          </a:bodyPr>
          <a:lstStyle/>
          <a:p>
            <a:pPr algn="l">
              <a:lnSpc>
                <a:spcPct val="135000"/>
              </a:lnSpc>
            </a:pPr>
            <a:r>
              <a:rPr sz="1150" b="0" i="1">
                <a:solidFill>
                  <a:srgbClr val="333D4D"/>
                </a:solidFill>
                <a:latin typeface="Calibri"/>
              </a:rPr>
              <a:t>Cross-speaker dispersion on forward-guidance share: χ² = 14.96, p = 0.0019. Topic mix dispersion: χ² = 32.4, p = 0.001. Powell vs each of the other three on forward-guidance: pairwise Fisher p ≤ 0.029.</a:t>
            </a:r>
          </a:p>
        </p:txBody>
      </p:sp>
      <p:sp>
        <p:nvSpPr>
          <p:cNvPr id="37" name="Rectangle 36"/>
          <p:cNvSpPr/>
          <p:nvPr/>
        </p:nvSpPr>
        <p:spPr>
          <a:xfrm>
            <a:off x="640080" y="5669280"/>
            <a:ext cx="54864" cy="5029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6263640"/>
            <a:ext cx="10972800" cy="274320"/>
          </a:xfrm>
          <a:prstGeom prst="rect">
            <a:avLst/>
          </a:prstGeom>
          <a:noFill/>
        </p:spPr>
        <p:txBody>
          <a:bodyPr wrap="square" lIns="0" rIns="0" tIns="0" bIns="0" anchor="t">
            <a:spAutoFit/>
          </a:bodyPr>
          <a:lstStyle/>
          <a:p>
            <a:pPr algn="l"/>
            <a:r>
              <a:rPr sz="1100" b="1" i="0">
                <a:solidFill>
                  <a:srgbClr val="0C1727"/>
                </a:solidFill>
                <a:latin typeface="Calibri"/>
              </a:rPr>
              <a:t>Convergent finding — metaphoric density per 1,000 words:</a:t>
            </a:r>
          </a:p>
        </p:txBody>
      </p:sp>
      <p:sp>
        <p:nvSpPr>
          <p:cNvPr id="39" name="TextBox 38"/>
          <p:cNvSpPr txBox="1"/>
          <p:nvPr/>
        </p:nvSpPr>
        <p:spPr>
          <a:xfrm>
            <a:off x="868680" y="6446520"/>
            <a:ext cx="10972800" cy="365760"/>
          </a:xfrm>
          <a:prstGeom prst="rect">
            <a:avLst/>
          </a:prstGeom>
          <a:noFill/>
        </p:spPr>
        <p:txBody>
          <a:bodyPr wrap="square" lIns="0" rIns="0" tIns="0" bIns="0" anchor="t">
            <a:spAutoFit/>
          </a:bodyPr>
          <a:lstStyle/>
          <a:p>
            <a:pPr algn="l">
              <a:lnSpc>
                <a:spcPct val="130000"/>
              </a:lnSpc>
            </a:pPr>
            <a:r>
              <a:rPr sz="1100" b="0" i="1">
                <a:solidFill>
                  <a:srgbClr val="333D4D"/>
                </a:solidFill>
                <a:latin typeface="Calibri"/>
              </a:rPr>
              <a:t>Brainard 66 · Powell 42 · Bowman 38 · Waller 37. A 1.8× spread invisible to any keyword-counting tool.</a:t>
            </a:r>
          </a:p>
        </p:txBody>
      </p:sp>
      <p:sp>
        <p:nvSpPr>
          <p:cNvPr id="40" name="Rectangle 39"/>
          <p:cNvSpPr/>
          <p:nvPr/>
        </p:nvSpPr>
        <p:spPr>
          <a:xfrm>
            <a:off x="640080" y="6446520"/>
            <a:ext cx="54864" cy="3200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PROOF (CONT.)</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08 / 15</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234440"/>
            <a:ext cx="3657600" cy="365760"/>
          </a:xfrm>
          <a:prstGeom prst="rect">
            <a:avLst/>
          </a:prstGeom>
          <a:noFill/>
        </p:spPr>
        <p:txBody>
          <a:bodyPr wrap="square" lIns="0" rIns="0" tIns="0" bIns="0" anchor="t">
            <a:spAutoFit/>
          </a:bodyPr>
          <a:lstStyle/>
          <a:p>
            <a:pPr algn="l"/>
            <a:r>
              <a:rPr sz="1200" b="1" i="0">
                <a:solidFill>
                  <a:srgbClr val="C9A227"/>
                </a:solidFill>
                <a:latin typeface="Calibri"/>
              </a:rPr>
              <a:t>Visual on this slide.</a:t>
            </a:r>
          </a:p>
        </p:txBody>
      </p:sp>
      <p:sp>
        <p:nvSpPr>
          <p:cNvPr id="7" name="TextBox 6"/>
          <p:cNvSpPr txBox="1"/>
          <p:nvPr/>
        </p:nvSpPr>
        <p:spPr>
          <a:xfrm>
            <a:off x="640080" y="1600200"/>
            <a:ext cx="10972800" cy="640080"/>
          </a:xfrm>
          <a:prstGeom prst="rect">
            <a:avLst/>
          </a:prstGeom>
          <a:noFill/>
        </p:spPr>
        <p:txBody>
          <a:bodyPr wrap="square" lIns="0" rIns="0" tIns="0" bIns="0" anchor="t">
            <a:spAutoFit/>
          </a:bodyPr>
          <a:lstStyle/>
          <a:p>
            <a:pPr algn="l">
              <a:lnSpc>
                <a:spcPct val="140000"/>
              </a:lnSpc>
            </a:pPr>
            <a:r>
              <a:rPr sz="1400" b="0" i="0">
                <a:solidFill>
                  <a:srgbClr val="333D4D"/>
                </a:solidFill>
                <a:latin typeface="Calibri"/>
              </a:rPr>
              <a:t>Two side-by-side radars: Powell vs Brainard overlaid on the four-speaker average, showing the cognitive contrast at a glance.</a:t>
            </a:r>
          </a:p>
        </p:txBody>
      </p:sp>
      <p:cxnSp>
        <p:nvCxnSpPr>
          <p:cNvPr id="8" name="Connector 7"/>
          <p:cNvCxnSpPr/>
          <p:nvPr/>
        </p:nvCxnSpPr>
        <p:spPr>
          <a:xfrm>
            <a:off x="640080" y="2743200"/>
            <a:ext cx="914400" cy="0"/>
          </a:xfrm>
          <a:prstGeom prst="line">
            <a:avLst/>
          </a:prstGeom>
          <a:ln w="31750">
            <a:solidFill>
              <a:srgbClr val="C9A22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2880360"/>
            <a:ext cx="5486400" cy="320040"/>
          </a:xfrm>
          <a:prstGeom prst="rect">
            <a:avLst/>
          </a:prstGeom>
          <a:noFill/>
        </p:spPr>
        <p:txBody>
          <a:bodyPr wrap="square" lIns="0" rIns="0" tIns="0" bIns="0" anchor="t">
            <a:spAutoFit/>
          </a:bodyPr>
          <a:lstStyle/>
          <a:p>
            <a:pPr algn="l"/>
            <a:r>
              <a:rPr sz="1100" b="1" i="0">
                <a:solidFill>
                  <a:srgbClr val="C9A227"/>
                </a:solidFill>
                <a:latin typeface="Calibri"/>
              </a:rPr>
              <a:t>Positioning sentence on the slide:</a:t>
            </a:r>
          </a:p>
        </p:txBody>
      </p:sp>
      <p:sp>
        <p:nvSpPr>
          <p:cNvPr id="10" name="TextBox 9"/>
          <p:cNvSpPr txBox="1"/>
          <p:nvPr/>
        </p:nvSpPr>
        <p:spPr>
          <a:xfrm>
            <a:off x="640080" y="3291840"/>
            <a:ext cx="10972800" cy="2286000"/>
          </a:xfrm>
          <a:prstGeom prst="rect">
            <a:avLst/>
          </a:prstGeom>
          <a:noFill/>
        </p:spPr>
        <p:txBody>
          <a:bodyPr wrap="square" lIns="0" rIns="0" tIns="0" bIns="0" anchor="t">
            <a:spAutoFit/>
          </a:bodyPr>
          <a:lstStyle/>
          <a:p>
            <a:pPr algn="l">
              <a:lnSpc>
                <a:spcPct val="130000"/>
              </a:lnSpc>
            </a:pPr>
            <a:r>
              <a:rPr sz="2200" b="0" i="1">
                <a:solidFill>
                  <a:srgbClr val="0C1727"/>
                </a:solidFill>
                <a:latin typeface="Calibri Light"/>
              </a:rPr>
              <a:t>“We distinguished four FOMC governors as statistically distinct cognitive models in the same policy window — and explained the contrast in a single visual. No sentiment or hawkish/dovish tool produces this output.”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INTELLECTUAL &amp; TECHNOLOGICAL MOAT</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09 / 15</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3600" b="0" i="0">
                <a:solidFill>
                  <a:srgbClr val="0C1727"/>
                </a:solidFill>
                <a:latin typeface="Calibri Light"/>
              </a:rPr>
              <a:t>The Intellectual &amp; Technological Moat</a:t>
            </a:r>
          </a:p>
        </p:txBody>
      </p:sp>
      <p:sp>
        <p:nvSpPr>
          <p:cNvPr id="7" name="TextBox 6"/>
          <p:cNvSpPr txBox="1"/>
          <p:nvPr/>
        </p:nvSpPr>
        <p:spPr>
          <a:xfrm>
            <a:off x="640080" y="2103120"/>
            <a:ext cx="1828800" cy="365760"/>
          </a:xfrm>
          <a:prstGeom prst="rect">
            <a:avLst/>
          </a:prstGeom>
          <a:noFill/>
        </p:spPr>
        <p:txBody>
          <a:bodyPr wrap="square" lIns="0" rIns="0" tIns="0" bIns="0" anchor="t">
            <a:spAutoFit/>
          </a:bodyPr>
          <a:lstStyle/>
          <a:p>
            <a:pPr algn="l"/>
            <a:r>
              <a:rPr sz="1100" b="1" i="0">
                <a:solidFill>
                  <a:srgbClr val="C9A227"/>
                </a:solidFill>
                <a:latin typeface="Calibri"/>
              </a:rPr>
              <a:t>Concept:</a:t>
            </a:r>
          </a:p>
        </p:txBody>
      </p:sp>
      <p:sp>
        <p:nvSpPr>
          <p:cNvPr id="8" name="TextBox 7"/>
          <p:cNvSpPr txBox="1"/>
          <p:nvPr/>
        </p:nvSpPr>
        <p:spPr>
          <a:xfrm>
            <a:off x="1417320" y="2103120"/>
            <a:ext cx="10058400" cy="365760"/>
          </a:xfrm>
          <a:prstGeom prst="rect">
            <a:avLst/>
          </a:prstGeom>
          <a:noFill/>
        </p:spPr>
        <p:txBody>
          <a:bodyPr wrap="square" lIns="0" rIns="0" tIns="0" bIns="0" anchor="t">
            <a:spAutoFit/>
          </a:bodyPr>
          <a:lstStyle/>
          <a:p>
            <a:pPr algn="l"/>
            <a:r>
              <a:rPr sz="1400" b="0" i="1">
                <a:solidFill>
                  <a:srgbClr val="1A202C"/>
                </a:solidFill>
                <a:latin typeface="Calibri"/>
              </a:rPr>
              <a:t>Methodology alone is replicable; our proprietary architecture is not.</a:t>
            </a:r>
          </a:p>
        </p:txBody>
      </p:sp>
      <p:sp>
        <p:nvSpPr>
          <p:cNvPr id="9" name="Rectangle 8"/>
          <p:cNvSpPr/>
          <p:nvPr/>
        </p:nvSpPr>
        <p:spPr>
          <a:xfrm>
            <a:off x="640080" y="2834639"/>
            <a:ext cx="54864" cy="1188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88920"/>
            <a:ext cx="10972800" cy="411480"/>
          </a:xfrm>
          <a:prstGeom prst="rect">
            <a:avLst/>
          </a:prstGeom>
          <a:noFill/>
        </p:spPr>
        <p:txBody>
          <a:bodyPr wrap="square" lIns="0" rIns="0" tIns="0" bIns="0" anchor="t">
            <a:spAutoFit/>
          </a:bodyPr>
          <a:lstStyle/>
          <a:p>
            <a:pPr algn="l"/>
            <a:r>
              <a:rPr sz="1500" b="1" i="0">
                <a:solidFill>
                  <a:srgbClr val="0C1727"/>
                </a:solidFill>
                <a:latin typeface="Calibri"/>
              </a:rPr>
              <a:t>Cognitive-linguistic pedigree.</a:t>
            </a:r>
          </a:p>
        </p:txBody>
      </p:sp>
      <p:sp>
        <p:nvSpPr>
          <p:cNvPr id="11" name="TextBox 10"/>
          <p:cNvSpPr txBox="1"/>
          <p:nvPr/>
        </p:nvSpPr>
        <p:spPr>
          <a:xfrm>
            <a:off x="868680" y="3200400"/>
            <a:ext cx="10698480" cy="868680"/>
          </a:xfrm>
          <a:prstGeom prst="rect">
            <a:avLst/>
          </a:prstGeom>
          <a:noFill/>
        </p:spPr>
        <p:txBody>
          <a:bodyPr wrap="square" lIns="0" rIns="0" tIns="0" bIns="0" anchor="t">
            <a:spAutoFit/>
          </a:bodyPr>
          <a:lstStyle/>
          <a:p>
            <a:pPr algn="l">
              <a:lnSpc>
                <a:spcPct val="150000"/>
              </a:lnSpc>
            </a:pPr>
            <a:r>
              <a:rPr sz="1200" b="0" i="0">
                <a:solidFill>
                  <a:srgbClr val="333D4D"/>
                </a:solidFill>
                <a:latin typeface="Calibri"/>
              </a:rPr>
              <a:t>Methodology grounded in Lakoff &amp; Johnson (1980) conceptual-metaphor theory and the frame-analysis tradition in cognitive linguistics. The codebook is built and validated by a practising cognitive linguist with a PhD in the field.</a:t>
            </a:r>
          </a:p>
        </p:txBody>
      </p:sp>
      <p:sp>
        <p:nvSpPr>
          <p:cNvPr id="12" name="Rectangle 11"/>
          <p:cNvSpPr/>
          <p:nvPr/>
        </p:nvSpPr>
        <p:spPr>
          <a:xfrm>
            <a:off x="640080" y="4160520"/>
            <a:ext cx="54864" cy="1188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114800"/>
            <a:ext cx="10972800" cy="411480"/>
          </a:xfrm>
          <a:prstGeom prst="rect">
            <a:avLst/>
          </a:prstGeom>
          <a:noFill/>
        </p:spPr>
        <p:txBody>
          <a:bodyPr wrap="square" lIns="0" rIns="0" tIns="0" bIns="0" anchor="t">
            <a:spAutoFit/>
          </a:bodyPr>
          <a:lstStyle/>
          <a:p>
            <a:pPr algn="l"/>
            <a:r>
              <a:rPr sz="1500" b="1" i="0">
                <a:solidFill>
                  <a:srgbClr val="0C1727"/>
                </a:solidFill>
                <a:latin typeface="Calibri"/>
              </a:rPr>
              <a:t>Schema-constrained LLM extraction.</a:t>
            </a:r>
          </a:p>
        </p:txBody>
      </p:sp>
      <p:sp>
        <p:nvSpPr>
          <p:cNvPr id="14" name="TextBox 13"/>
          <p:cNvSpPr txBox="1"/>
          <p:nvPr/>
        </p:nvSpPr>
        <p:spPr>
          <a:xfrm>
            <a:off x="868680" y="4526280"/>
            <a:ext cx="10698480" cy="868680"/>
          </a:xfrm>
          <a:prstGeom prst="rect">
            <a:avLst/>
          </a:prstGeom>
          <a:noFill/>
        </p:spPr>
        <p:txBody>
          <a:bodyPr wrap="square" lIns="0" rIns="0" tIns="0" bIns="0" anchor="t">
            <a:spAutoFit/>
          </a:bodyPr>
          <a:lstStyle/>
          <a:p>
            <a:pPr algn="l">
              <a:lnSpc>
                <a:spcPct val="150000"/>
              </a:lnSpc>
            </a:pPr>
            <a:r>
              <a:rPr sz="1200" b="0" i="0">
                <a:solidFill>
                  <a:srgbClr val="333D4D"/>
                </a:solidFill>
                <a:latin typeface="Calibri"/>
              </a:rPr>
              <a:t>Two-pass extraction (sentence-level frames + document-level conceptual metaphor systems) against a constrained JSON schema. Three-run consensus filtering yields Quality Control: 3 independent runs + consensus filtering yields 75.9% per-extraction corroboration on the FOMC minutes corpus (n = 257 documents, 2000–2024). We turn generative LLMs into precise measurement instruments.</a:t>
            </a:r>
          </a:p>
        </p:txBody>
      </p:sp>
      <p:sp>
        <p:nvSpPr>
          <p:cNvPr id="15" name="Rectangle 14"/>
          <p:cNvSpPr/>
          <p:nvPr/>
        </p:nvSpPr>
        <p:spPr>
          <a:xfrm>
            <a:off x="640080" y="5486399"/>
            <a:ext cx="54864" cy="1188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440679"/>
            <a:ext cx="10972800" cy="411480"/>
          </a:xfrm>
          <a:prstGeom prst="rect">
            <a:avLst/>
          </a:prstGeom>
          <a:noFill/>
        </p:spPr>
        <p:txBody>
          <a:bodyPr wrap="square" lIns="0" rIns="0" tIns="0" bIns="0" anchor="t">
            <a:spAutoFit/>
          </a:bodyPr>
          <a:lstStyle/>
          <a:p>
            <a:pPr algn="l"/>
            <a:r>
              <a:rPr sz="1500" b="1" i="0">
                <a:solidFill>
                  <a:srgbClr val="0C1727"/>
                </a:solidFill>
                <a:latin typeface="Calibri"/>
              </a:rPr>
              <a:t>Why Now:</a:t>
            </a:r>
          </a:p>
        </p:txBody>
      </p:sp>
      <p:sp>
        <p:nvSpPr>
          <p:cNvPr id="17" name="TextBox 16"/>
          <p:cNvSpPr txBox="1"/>
          <p:nvPr/>
        </p:nvSpPr>
        <p:spPr>
          <a:xfrm>
            <a:off x="868680" y="5852159"/>
            <a:ext cx="10698480" cy="868680"/>
          </a:xfrm>
          <a:prstGeom prst="rect">
            <a:avLst/>
          </a:prstGeom>
          <a:noFill/>
        </p:spPr>
        <p:txBody>
          <a:bodyPr wrap="square" lIns="0" rIns="0" tIns="0" bIns="0" anchor="t">
            <a:spAutoFit/>
          </a:bodyPr>
          <a:lstStyle/>
          <a:p>
            <a:pPr algn="l">
              <a:lnSpc>
                <a:spcPct val="150000"/>
              </a:lnSpc>
            </a:pPr>
            <a:r>
              <a:rPr sz="1200" b="0" i="0">
                <a:solidFill>
                  <a:srgbClr val="333D4D"/>
                </a:solidFill>
                <a:latin typeface="Calibri"/>
              </a:rPr>
              <a:t>Historically, qualitative analysis required an army of PhDs. Generative AI finally makes deep cognitive extraction scalable at machine speed.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TRACTION</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10 / 15</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4400" b="0" i="0">
                <a:solidFill>
                  <a:srgbClr val="0C1727"/>
                </a:solidFill>
                <a:latin typeface="Calibri Light"/>
              </a:rPr>
              <a:t>Strategic Pipeline</a:t>
            </a:r>
          </a:p>
        </p:txBody>
      </p:sp>
      <p:sp>
        <p:nvSpPr>
          <p:cNvPr id="7" name="Rectangle 6"/>
          <p:cNvSpPr/>
          <p:nvPr/>
        </p:nvSpPr>
        <p:spPr>
          <a:xfrm>
            <a:off x="640080" y="3017520"/>
            <a:ext cx="5577840" cy="2743200"/>
          </a:xfrm>
          <a:prstGeom prst="rect">
            <a:avLst/>
          </a:prstGeom>
          <a:solidFill>
            <a:srgbClr val="FAFAF8"/>
          </a:solidFill>
          <a:ln w="9525">
            <a:solidFill>
              <a:srgbClr val="CF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74720"/>
            <a:ext cx="914400" cy="320040"/>
          </a:xfrm>
          <a:prstGeom prst="rect">
            <a:avLst/>
          </a:prstGeom>
          <a:noFill/>
        </p:spPr>
        <p:txBody>
          <a:bodyPr wrap="square" lIns="0" rIns="0" tIns="0" bIns="0" anchor="t">
            <a:spAutoFit/>
          </a:bodyPr>
          <a:lstStyle/>
          <a:p>
            <a:pPr algn="l"/>
            <a:r>
              <a:rPr sz="1100" b="1" i="0">
                <a:solidFill>
                  <a:srgbClr val="C9A227"/>
                </a:solidFill>
                <a:latin typeface="Consolas"/>
              </a:rPr>
              <a:t>01</a:t>
            </a:r>
          </a:p>
        </p:txBody>
      </p:sp>
      <p:sp>
        <p:nvSpPr>
          <p:cNvPr id="9" name="TextBox 8"/>
          <p:cNvSpPr txBox="1"/>
          <p:nvPr/>
        </p:nvSpPr>
        <p:spPr>
          <a:xfrm>
            <a:off x="1005840" y="3886200"/>
            <a:ext cx="4846320" cy="914400"/>
          </a:xfrm>
          <a:prstGeom prst="rect">
            <a:avLst/>
          </a:prstGeom>
          <a:noFill/>
        </p:spPr>
        <p:txBody>
          <a:bodyPr wrap="square" lIns="0" rIns="0" tIns="0" bIns="0" anchor="t">
            <a:spAutoFit/>
          </a:bodyPr>
          <a:lstStyle/>
          <a:p>
            <a:pPr algn="l">
              <a:lnSpc>
                <a:spcPct val="115000"/>
              </a:lnSpc>
            </a:pPr>
            <a:r>
              <a:rPr sz="2800" b="1" i="0">
                <a:solidFill>
                  <a:srgbClr val="0C1727"/>
                </a:solidFill>
                <a:latin typeface="Calibri Light"/>
              </a:rPr>
              <a:t>Navega Strategies:</a:t>
            </a:r>
          </a:p>
        </p:txBody>
      </p:sp>
      <p:sp>
        <p:nvSpPr>
          <p:cNvPr id="10" name="TextBox 9"/>
          <p:cNvSpPr txBox="1"/>
          <p:nvPr/>
        </p:nvSpPr>
        <p:spPr>
          <a:xfrm>
            <a:off x="1005840" y="4800600"/>
            <a:ext cx="4846320" cy="731520"/>
          </a:xfrm>
          <a:prstGeom prst="rect">
            <a:avLst/>
          </a:prstGeom>
          <a:noFill/>
        </p:spPr>
        <p:txBody>
          <a:bodyPr wrap="square" lIns="0" rIns="0" tIns="0" bIns="0" anchor="t">
            <a:spAutoFit/>
          </a:bodyPr>
          <a:lstStyle/>
          <a:p>
            <a:pPr algn="l">
              <a:lnSpc>
                <a:spcPct val="150000"/>
              </a:lnSpc>
            </a:pPr>
            <a:r>
              <a:rPr sz="1400" b="0" i="0">
                <a:solidFill>
                  <a:srgbClr val="333D4D"/>
                </a:solidFill>
                <a:latin typeface="Calibri"/>
              </a:rPr>
              <a:t>Global macro intelligence &amp; signaling.</a:t>
            </a:r>
          </a:p>
        </p:txBody>
      </p:sp>
      <p:sp>
        <p:nvSpPr>
          <p:cNvPr id="11" name="Rectangle 10"/>
          <p:cNvSpPr/>
          <p:nvPr/>
        </p:nvSpPr>
        <p:spPr>
          <a:xfrm>
            <a:off x="6492240" y="3017520"/>
            <a:ext cx="5577840" cy="2743200"/>
          </a:xfrm>
          <a:prstGeom prst="rect">
            <a:avLst/>
          </a:prstGeom>
          <a:solidFill>
            <a:srgbClr val="FAFAF8"/>
          </a:solidFill>
          <a:ln w="9525">
            <a:solidFill>
              <a:srgbClr val="CF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474720"/>
            <a:ext cx="914400" cy="320040"/>
          </a:xfrm>
          <a:prstGeom prst="rect">
            <a:avLst/>
          </a:prstGeom>
          <a:noFill/>
        </p:spPr>
        <p:txBody>
          <a:bodyPr wrap="square" lIns="0" rIns="0" tIns="0" bIns="0" anchor="t">
            <a:spAutoFit/>
          </a:bodyPr>
          <a:lstStyle/>
          <a:p>
            <a:pPr algn="l"/>
            <a:r>
              <a:rPr sz="1100" b="1" i="0">
                <a:solidFill>
                  <a:srgbClr val="C9A227"/>
                </a:solidFill>
                <a:latin typeface="Consolas"/>
              </a:rPr>
              <a:t>02</a:t>
            </a:r>
          </a:p>
        </p:txBody>
      </p:sp>
      <p:sp>
        <p:nvSpPr>
          <p:cNvPr id="13" name="TextBox 12"/>
          <p:cNvSpPr txBox="1"/>
          <p:nvPr/>
        </p:nvSpPr>
        <p:spPr>
          <a:xfrm>
            <a:off x="6858000" y="3886200"/>
            <a:ext cx="4846320" cy="914400"/>
          </a:xfrm>
          <a:prstGeom prst="rect">
            <a:avLst/>
          </a:prstGeom>
          <a:noFill/>
        </p:spPr>
        <p:txBody>
          <a:bodyPr wrap="square" lIns="0" rIns="0" tIns="0" bIns="0" anchor="t">
            <a:spAutoFit/>
          </a:bodyPr>
          <a:lstStyle/>
          <a:p>
            <a:pPr algn="l">
              <a:lnSpc>
                <a:spcPct val="115000"/>
              </a:lnSpc>
            </a:pPr>
            <a:r>
              <a:rPr sz="2800" b="1" i="0">
                <a:solidFill>
                  <a:srgbClr val="0C1727"/>
                </a:solidFill>
                <a:latin typeface="Calibri Light"/>
              </a:rPr>
              <a:t>countryrisk.io:</a:t>
            </a:r>
          </a:p>
        </p:txBody>
      </p:sp>
      <p:sp>
        <p:nvSpPr>
          <p:cNvPr id="14" name="TextBox 13"/>
          <p:cNvSpPr txBox="1"/>
          <p:nvPr/>
        </p:nvSpPr>
        <p:spPr>
          <a:xfrm>
            <a:off x="6858000" y="4800600"/>
            <a:ext cx="4846320" cy="731520"/>
          </a:xfrm>
          <a:prstGeom prst="rect">
            <a:avLst/>
          </a:prstGeom>
          <a:noFill/>
        </p:spPr>
        <p:txBody>
          <a:bodyPr wrap="square" lIns="0" rIns="0" tIns="0" bIns="0" anchor="t">
            <a:spAutoFit/>
          </a:bodyPr>
          <a:lstStyle/>
          <a:p>
            <a:pPr algn="l">
              <a:lnSpc>
                <a:spcPct val="150000"/>
              </a:lnSpc>
            </a:pPr>
            <a:r>
              <a:rPr sz="1400" b="0" i="0">
                <a:solidFill>
                  <a:srgbClr val="333D4D"/>
                </a:solidFill>
                <a:latin typeface="Calibri"/>
              </a:rPr>
              <a:t>Sovereign risk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727"/>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MARKET SIZING</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8E99A8"/>
                </a:solidFill>
                <a:latin typeface="Consolas"/>
              </a:rPr>
              <a:t>11 / 15</a:t>
            </a:r>
          </a:p>
        </p:txBody>
      </p:sp>
      <p:cxnSp>
        <p:nvCxnSpPr>
          <p:cNvPr id="5" name="Connector 4"/>
          <p:cNvCxnSpPr/>
          <p:nvPr/>
        </p:nvCxnSpPr>
        <p:spPr>
          <a:xfrm>
            <a:off x="548640" y="6400800"/>
            <a:ext cx="9509760" cy="0"/>
          </a:xfrm>
          <a:prstGeom prst="line">
            <a:avLst/>
          </a:prstGeom>
          <a:ln w="6350">
            <a:solidFill>
              <a:srgbClr val="2A354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4400" b="0" i="0">
                <a:solidFill>
                  <a:srgbClr val="FFFFFF"/>
                </a:solidFill>
                <a:latin typeface="Calibri Light"/>
              </a:rPr>
              <a:t>Market Sizing</a:t>
            </a:r>
          </a:p>
        </p:txBody>
      </p:sp>
      <p:sp>
        <p:nvSpPr>
          <p:cNvPr id="7" name="TextBox 6"/>
          <p:cNvSpPr txBox="1"/>
          <p:nvPr/>
        </p:nvSpPr>
        <p:spPr>
          <a:xfrm>
            <a:off x="640080" y="2377440"/>
            <a:ext cx="2743200" cy="411480"/>
          </a:xfrm>
          <a:prstGeom prst="rect">
            <a:avLst/>
          </a:prstGeom>
          <a:noFill/>
        </p:spPr>
        <p:txBody>
          <a:bodyPr wrap="square" lIns="0" rIns="0" tIns="0" bIns="0" anchor="t">
            <a:spAutoFit/>
          </a:bodyPr>
          <a:lstStyle/>
          <a:p>
            <a:pPr algn="l"/>
            <a:r>
              <a:rPr sz="1400" b="1" i="0">
                <a:solidFill>
                  <a:srgbClr val="C9A227"/>
                </a:solidFill>
                <a:latin typeface="Calibri"/>
              </a:rPr>
              <a:t>Market Size:</a:t>
            </a:r>
          </a:p>
        </p:txBody>
      </p:sp>
      <p:cxnSp>
        <p:nvCxnSpPr>
          <p:cNvPr id="8" name="Connector 7"/>
          <p:cNvCxnSpPr/>
          <p:nvPr/>
        </p:nvCxnSpPr>
        <p:spPr>
          <a:xfrm>
            <a:off x="640080" y="2788920"/>
            <a:ext cx="1371600" cy="0"/>
          </a:xfrm>
          <a:prstGeom prst="line">
            <a:avLst/>
          </a:prstGeom>
          <a:ln w="38100">
            <a:solidFill>
              <a:srgbClr val="C9A22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2880360"/>
            <a:ext cx="10972800" cy="1828800"/>
          </a:xfrm>
          <a:prstGeom prst="rect">
            <a:avLst/>
          </a:prstGeom>
          <a:noFill/>
        </p:spPr>
        <p:txBody>
          <a:bodyPr wrap="square" lIns="0" rIns="0" tIns="0" bIns="0" anchor="t">
            <a:spAutoFit/>
          </a:bodyPr>
          <a:lstStyle/>
          <a:p>
            <a:pPr algn="l"/>
            <a:r>
              <a:rPr sz="10000" b="0" i="0">
                <a:solidFill>
                  <a:srgbClr val="FFFFFF"/>
                </a:solidFill>
                <a:latin typeface="Calibri Light"/>
              </a:rPr>
              <a:t>€600M+ SAM</a:t>
            </a:r>
          </a:p>
        </p:txBody>
      </p:sp>
      <p:sp>
        <p:nvSpPr>
          <p:cNvPr id="10" name="TextBox 9"/>
          <p:cNvSpPr txBox="1"/>
          <p:nvPr/>
        </p:nvSpPr>
        <p:spPr>
          <a:xfrm>
            <a:off x="640080" y="4846320"/>
            <a:ext cx="10972800" cy="548640"/>
          </a:xfrm>
          <a:prstGeom prst="rect">
            <a:avLst/>
          </a:prstGeom>
          <a:noFill/>
        </p:spPr>
        <p:txBody>
          <a:bodyPr wrap="square" lIns="0" rIns="0" tIns="0" bIns="0" anchor="t">
            <a:spAutoFit/>
          </a:bodyPr>
          <a:lstStyle/>
          <a:p>
            <a:pPr algn="l"/>
            <a:r>
              <a:rPr sz="1800" b="0" i="0">
                <a:solidFill>
                  <a:srgbClr val="D9DFE6"/>
                </a:solidFill>
                <a:latin typeface="Calibri Light"/>
              </a:rPr>
              <a:t>(4,200+ global macro funds and risk desks at a €100k-€250k target ACV).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COMPETITIVE LANDSCAPE</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12 / 15</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4400" b="0" i="0">
                <a:solidFill>
                  <a:srgbClr val="0C1727"/>
                </a:solidFill>
                <a:latin typeface="Calibri Light"/>
              </a:rPr>
              <a:t>Competitive Landscape</a:t>
            </a:r>
          </a:p>
        </p:txBody>
      </p:sp>
      <p:sp>
        <p:nvSpPr>
          <p:cNvPr id="7" name="TextBox 6"/>
          <p:cNvSpPr txBox="1"/>
          <p:nvPr/>
        </p:nvSpPr>
        <p:spPr>
          <a:xfrm>
            <a:off x="640080" y="2560320"/>
            <a:ext cx="2926080" cy="411480"/>
          </a:xfrm>
          <a:prstGeom prst="rect">
            <a:avLst/>
          </a:prstGeom>
          <a:noFill/>
        </p:spPr>
        <p:txBody>
          <a:bodyPr wrap="square" lIns="0" rIns="0" tIns="0" bIns="0" anchor="b">
            <a:spAutoFit/>
          </a:bodyPr>
          <a:lstStyle/>
          <a:p>
            <a:pPr algn="l"/>
            <a:r>
              <a:rPr sz="1000" b="1" i="0">
                <a:solidFill>
                  <a:srgbClr val="C9A227"/>
                </a:solidFill>
                <a:latin typeface="Calibri"/>
              </a:rPr>
              <a:t>Competitor</a:t>
            </a:r>
          </a:p>
        </p:txBody>
      </p:sp>
      <p:sp>
        <p:nvSpPr>
          <p:cNvPr id="8" name="TextBox 7"/>
          <p:cNvSpPr txBox="1"/>
          <p:nvPr/>
        </p:nvSpPr>
        <p:spPr>
          <a:xfrm>
            <a:off x="3566160" y="2560320"/>
            <a:ext cx="3200400" cy="411480"/>
          </a:xfrm>
          <a:prstGeom prst="rect">
            <a:avLst/>
          </a:prstGeom>
          <a:noFill/>
        </p:spPr>
        <p:txBody>
          <a:bodyPr wrap="square" lIns="0" rIns="0" tIns="0" bIns="0" anchor="b">
            <a:spAutoFit/>
          </a:bodyPr>
          <a:lstStyle/>
          <a:p>
            <a:pPr algn="l"/>
            <a:r>
              <a:rPr sz="1000" b="1" i="0">
                <a:solidFill>
                  <a:srgbClr val="C9A227"/>
                </a:solidFill>
                <a:latin typeface="Calibri"/>
              </a:rPr>
              <a:t>Output</a:t>
            </a:r>
          </a:p>
        </p:txBody>
      </p:sp>
      <p:sp>
        <p:nvSpPr>
          <p:cNvPr id="9" name="TextBox 8"/>
          <p:cNvSpPr txBox="1"/>
          <p:nvPr/>
        </p:nvSpPr>
        <p:spPr>
          <a:xfrm>
            <a:off x="6766560" y="2560320"/>
            <a:ext cx="5212080" cy="411480"/>
          </a:xfrm>
          <a:prstGeom prst="rect">
            <a:avLst/>
          </a:prstGeom>
          <a:noFill/>
        </p:spPr>
        <p:txBody>
          <a:bodyPr wrap="square" lIns="0" rIns="0" tIns="0" bIns="0" anchor="b">
            <a:spAutoFit/>
          </a:bodyPr>
          <a:lstStyle/>
          <a:p>
            <a:pPr algn="l"/>
            <a:r>
              <a:rPr sz="1000" b="1" i="0">
                <a:solidFill>
                  <a:srgbClr val="C9A227"/>
                </a:solidFill>
                <a:latin typeface="Calibri"/>
              </a:rPr>
              <a:t>What we do differently</a:t>
            </a:r>
          </a:p>
        </p:txBody>
      </p:sp>
      <p:cxnSp>
        <p:nvCxnSpPr>
          <p:cNvPr id="10" name="Connector 9"/>
          <p:cNvCxnSpPr/>
          <p:nvPr/>
        </p:nvCxnSpPr>
        <p:spPr>
          <a:xfrm>
            <a:off x="640080" y="2971800"/>
            <a:ext cx="11338560" cy="0"/>
          </a:xfrm>
          <a:prstGeom prst="line">
            <a:avLst/>
          </a:prstGeom>
          <a:ln w="19050">
            <a:solidFill>
              <a:srgbClr val="C9A22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063240"/>
            <a:ext cx="2788920" cy="640080"/>
          </a:xfrm>
          <a:prstGeom prst="rect">
            <a:avLst/>
          </a:prstGeom>
          <a:noFill/>
        </p:spPr>
        <p:txBody>
          <a:bodyPr wrap="square" lIns="0" rIns="0" tIns="0" bIns="0" anchor="t">
            <a:spAutoFit/>
          </a:bodyPr>
          <a:lstStyle/>
          <a:p>
            <a:pPr algn="l">
              <a:lnSpc>
                <a:spcPct val="135000"/>
              </a:lnSpc>
            </a:pPr>
            <a:r>
              <a:rPr sz="1300" b="1" i="0">
                <a:solidFill>
                  <a:srgbClr val="0C1727"/>
                </a:solidFill>
                <a:latin typeface="Calibri"/>
              </a:rPr>
              <a:t>RavenPack</a:t>
            </a:r>
          </a:p>
        </p:txBody>
      </p:sp>
      <p:sp>
        <p:nvSpPr>
          <p:cNvPr id="12" name="TextBox 11"/>
          <p:cNvSpPr txBox="1"/>
          <p:nvPr/>
        </p:nvSpPr>
        <p:spPr>
          <a:xfrm>
            <a:off x="3566160" y="3063240"/>
            <a:ext cx="3063240" cy="640080"/>
          </a:xfrm>
          <a:prstGeom prst="rect">
            <a:avLst/>
          </a:prstGeom>
          <a:noFill/>
        </p:spPr>
        <p:txBody>
          <a:bodyPr wrap="square" lIns="0" rIns="0" tIns="0" bIns="0" anchor="t">
            <a:spAutoFit/>
          </a:bodyPr>
          <a:lstStyle/>
          <a:p>
            <a:pPr algn="l">
              <a:lnSpc>
                <a:spcPct val="135000"/>
              </a:lnSpc>
            </a:pPr>
            <a:r>
              <a:rPr sz="1200" b="0" i="0">
                <a:solidFill>
                  <a:srgbClr val="333D4D"/>
                </a:solidFill>
                <a:latin typeface="Calibri"/>
              </a:rPr>
              <a:t>Quantitative news sentiment</a:t>
            </a:r>
          </a:p>
        </p:txBody>
      </p:sp>
      <p:sp>
        <p:nvSpPr>
          <p:cNvPr id="13" name="TextBox 12"/>
          <p:cNvSpPr txBox="1"/>
          <p:nvPr/>
        </p:nvSpPr>
        <p:spPr>
          <a:xfrm>
            <a:off x="6766560" y="3063240"/>
            <a:ext cx="5074920" cy="640080"/>
          </a:xfrm>
          <a:prstGeom prst="rect">
            <a:avLst/>
          </a:prstGeom>
          <a:noFill/>
        </p:spPr>
        <p:txBody>
          <a:bodyPr wrap="square" lIns="0" rIns="0" tIns="0" bIns="0" anchor="t">
            <a:spAutoFit/>
          </a:bodyPr>
          <a:lstStyle/>
          <a:p>
            <a:pPr algn="l">
              <a:lnSpc>
                <a:spcPct val="135000"/>
              </a:lnSpc>
            </a:pPr>
            <a:r>
              <a:rPr sz="1200" b="0" i="0">
                <a:solidFill>
                  <a:srgbClr val="1A202C"/>
                </a:solidFill>
                <a:latin typeface="Calibri"/>
              </a:rPr>
              <a:t>We track structural intent and cognitive frame, not keyword volume.</a:t>
            </a:r>
          </a:p>
        </p:txBody>
      </p:sp>
      <p:cxnSp>
        <p:nvCxnSpPr>
          <p:cNvPr id="14" name="Connector 13"/>
          <p:cNvCxnSpPr/>
          <p:nvPr/>
        </p:nvCxnSpPr>
        <p:spPr>
          <a:xfrm>
            <a:off x="640080" y="3758184"/>
            <a:ext cx="113385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3776472"/>
            <a:ext cx="2788920" cy="640080"/>
          </a:xfrm>
          <a:prstGeom prst="rect">
            <a:avLst/>
          </a:prstGeom>
          <a:noFill/>
        </p:spPr>
        <p:txBody>
          <a:bodyPr wrap="square" lIns="0" rIns="0" tIns="0" bIns="0" anchor="t">
            <a:spAutoFit/>
          </a:bodyPr>
          <a:lstStyle/>
          <a:p>
            <a:pPr algn="l">
              <a:lnSpc>
                <a:spcPct val="135000"/>
              </a:lnSpc>
            </a:pPr>
            <a:r>
              <a:rPr sz="1300" b="1" i="0">
                <a:solidFill>
                  <a:srgbClr val="0C1727"/>
                </a:solidFill>
                <a:latin typeface="Calibri"/>
              </a:rPr>
              <a:t>Prattle (acquired by Liquidnet)</a:t>
            </a:r>
          </a:p>
        </p:txBody>
      </p:sp>
      <p:sp>
        <p:nvSpPr>
          <p:cNvPr id="16" name="TextBox 15"/>
          <p:cNvSpPr txBox="1"/>
          <p:nvPr/>
        </p:nvSpPr>
        <p:spPr>
          <a:xfrm>
            <a:off x="3566160" y="3776472"/>
            <a:ext cx="3063240" cy="640080"/>
          </a:xfrm>
          <a:prstGeom prst="rect">
            <a:avLst/>
          </a:prstGeom>
          <a:noFill/>
        </p:spPr>
        <p:txBody>
          <a:bodyPr wrap="square" lIns="0" rIns="0" tIns="0" bIns="0" anchor="t">
            <a:spAutoFit/>
          </a:bodyPr>
          <a:lstStyle/>
          <a:p>
            <a:pPr algn="l">
              <a:lnSpc>
                <a:spcPct val="135000"/>
              </a:lnSpc>
            </a:pPr>
            <a:r>
              <a:rPr sz="1200" b="0" i="0">
                <a:solidFill>
                  <a:srgbClr val="333D4D"/>
                </a:solidFill>
                <a:latin typeface="Calibri"/>
              </a:rPr>
              <a:t>Central-bank sentiment</a:t>
            </a:r>
          </a:p>
        </p:txBody>
      </p:sp>
      <p:sp>
        <p:nvSpPr>
          <p:cNvPr id="17" name="TextBox 16"/>
          <p:cNvSpPr txBox="1"/>
          <p:nvPr/>
        </p:nvSpPr>
        <p:spPr>
          <a:xfrm>
            <a:off x="6766560" y="3776472"/>
            <a:ext cx="5074920" cy="640080"/>
          </a:xfrm>
          <a:prstGeom prst="rect">
            <a:avLst/>
          </a:prstGeom>
          <a:noFill/>
        </p:spPr>
        <p:txBody>
          <a:bodyPr wrap="square" lIns="0" rIns="0" tIns="0" bIns="0" anchor="t">
            <a:spAutoFit/>
          </a:bodyPr>
          <a:lstStyle/>
          <a:p>
            <a:pPr algn="l">
              <a:lnSpc>
                <a:spcPct val="135000"/>
              </a:lnSpc>
            </a:pPr>
            <a:r>
              <a:rPr sz="1200" b="0" i="0">
                <a:solidFill>
                  <a:srgbClr val="1A202C"/>
                </a:solidFill>
                <a:latin typeface="Calibri"/>
              </a:rPr>
              <a:t>Validates buyer appetite in exactly this category. We provide structural direction, not just tone.</a:t>
            </a:r>
          </a:p>
        </p:txBody>
      </p:sp>
      <p:cxnSp>
        <p:nvCxnSpPr>
          <p:cNvPr id="18" name="Connector 17"/>
          <p:cNvCxnSpPr/>
          <p:nvPr/>
        </p:nvCxnSpPr>
        <p:spPr>
          <a:xfrm>
            <a:off x="640080" y="4471416"/>
            <a:ext cx="113385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4489704"/>
            <a:ext cx="2788920" cy="640080"/>
          </a:xfrm>
          <a:prstGeom prst="rect">
            <a:avLst/>
          </a:prstGeom>
          <a:noFill/>
        </p:spPr>
        <p:txBody>
          <a:bodyPr wrap="square" lIns="0" rIns="0" tIns="0" bIns="0" anchor="t">
            <a:spAutoFit/>
          </a:bodyPr>
          <a:lstStyle/>
          <a:p>
            <a:pPr algn="l">
              <a:lnSpc>
                <a:spcPct val="135000"/>
              </a:lnSpc>
            </a:pPr>
            <a:r>
              <a:rPr sz="1300" b="1" i="0">
                <a:solidFill>
                  <a:srgbClr val="0C1727"/>
                </a:solidFill>
                <a:latin typeface="Calibri"/>
              </a:rPr>
              <a:t>Refinitiv MarketPsych</a:t>
            </a:r>
          </a:p>
        </p:txBody>
      </p:sp>
      <p:sp>
        <p:nvSpPr>
          <p:cNvPr id="20" name="TextBox 19"/>
          <p:cNvSpPr txBox="1"/>
          <p:nvPr/>
        </p:nvSpPr>
        <p:spPr>
          <a:xfrm>
            <a:off x="3566160" y="4489704"/>
            <a:ext cx="3063240" cy="640080"/>
          </a:xfrm>
          <a:prstGeom prst="rect">
            <a:avLst/>
          </a:prstGeom>
          <a:noFill/>
        </p:spPr>
        <p:txBody>
          <a:bodyPr wrap="square" lIns="0" rIns="0" tIns="0" bIns="0" anchor="t">
            <a:spAutoFit/>
          </a:bodyPr>
          <a:lstStyle/>
          <a:p>
            <a:pPr algn="l">
              <a:lnSpc>
                <a:spcPct val="135000"/>
              </a:lnSpc>
            </a:pPr>
            <a:r>
              <a:rPr sz="1200" b="0" i="0">
                <a:solidFill>
                  <a:srgbClr val="333D4D"/>
                </a:solidFill>
                <a:latin typeface="Calibri"/>
              </a:rPr>
              <a:t>Multi-dimensional NLP analytics</a:t>
            </a:r>
          </a:p>
        </p:txBody>
      </p:sp>
      <p:sp>
        <p:nvSpPr>
          <p:cNvPr id="21" name="TextBox 20"/>
          <p:cNvSpPr txBox="1"/>
          <p:nvPr/>
        </p:nvSpPr>
        <p:spPr>
          <a:xfrm>
            <a:off x="6766560" y="4489704"/>
            <a:ext cx="5074920" cy="640080"/>
          </a:xfrm>
          <a:prstGeom prst="rect">
            <a:avLst/>
          </a:prstGeom>
          <a:noFill/>
        </p:spPr>
        <p:txBody>
          <a:bodyPr wrap="square" lIns="0" rIns="0" tIns="0" bIns="0" anchor="t">
            <a:spAutoFit/>
          </a:bodyPr>
          <a:lstStyle/>
          <a:p>
            <a:pPr algn="l">
              <a:lnSpc>
                <a:spcPct val="135000"/>
              </a:lnSpc>
            </a:pPr>
            <a:r>
              <a:rPr sz="1200" b="0" i="0">
                <a:solidFill>
                  <a:srgbClr val="1A202C"/>
                </a:solidFill>
                <a:latin typeface="Calibri"/>
              </a:rPr>
              <a:t>Their dimensions are emotion / topic intensity; ours are cognitive-grammar primitives (agency, time, frame).</a:t>
            </a:r>
          </a:p>
        </p:txBody>
      </p:sp>
      <p:cxnSp>
        <p:nvCxnSpPr>
          <p:cNvPr id="22" name="Connector 21"/>
          <p:cNvCxnSpPr/>
          <p:nvPr/>
        </p:nvCxnSpPr>
        <p:spPr>
          <a:xfrm>
            <a:off x="640080" y="5184648"/>
            <a:ext cx="113385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5202936"/>
            <a:ext cx="2788920" cy="640080"/>
          </a:xfrm>
          <a:prstGeom prst="rect">
            <a:avLst/>
          </a:prstGeom>
          <a:noFill/>
        </p:spPr>
        <p:txBody>
          <a:bodyPr wrap="square" lIns="0" rIns="0" tIns="0" bIns="0" anchor="t">
            <a:spAutoFit/>
          </a:bodyPr>
          <a:lstStyle/>
          <a:p>
            <a:pPr algn="l">
              <a:lnSpc>
                <a:spcPct val="135000"/>
              </a:lnSpc>
            </a:pPr>
            <a:r>
              <a:rPr sz="1300" b="1" i="0">
                <a:solidFill>
                  <a:srgbClr val="0C1727"/>
                </a:solidFill>
                <a:latin typeface="Calibri"/>
              </a:rPr>
              <a:t>Bloomberg / Reuters</a:t>
            </a:r>
          </a:p>
        </p:txBody>
      </p:sp>
      <p:sp>
        <p:nvSpPr>
          <p:cNvPr id="24" name="TextBox 23"/>
          <p:cNvSpPr txBox="1"/>
          <p:nvPr/>
        </p:nvSpPr>
        <p:spPr>
          <a:xfrm>
            <a:off x="3566160" y="5202936"/>
            <a:ext cx="3063240" cy="640080"/>
          </a:xfrm>
          <a:prstGeom prst="rect">
            <a:avLst/>
          </a:prstGeom>
          <a:noFill/>
        </p:spPr>
        <p:txBody>
          <a:bodyPr wrap="square" lIns="0" rIns="0" tIns="0" bIns="0" anchor="t">
            <a:spAutoFit/>
          </a:bodyPr>
          <a:lstStyle/>
          <a:p>
            <a:pPr algn="l">
              <a:lnSpc>
                <a:spcPct val="135000"/>
              </a:lnSpc>
            </a:pPr>
            <a:r>
              <a:rPr sz="1200" b="0" i="0">
                <a:solidFill>
                  <a:srgbClr val="333D4D"/>
                </a:solidFill>
                <a:latin typeface="Calibri"/>
              </a:rPr>
              <a:t>Commoditised macro data</a:t>
            </a:r>
          </a:p>
        </p:txBody>
      </p:sp>
      <p:sp>
        <p:nvSpPr>
          <p:cNvPr id="25" name="TextBox 24"/>
          <p:cNvSpPr txBox="1"/>
          <p:nvPr/>
        </p:nvSpPr>
        <p:spPr>
          <a:xfrm>
            <a:off x="6766560" y="5202936"/>
            <a:ext cx="5074920" cy="640080"/>
          </a:xfrm>
          <a:prstGeom prst="rect">
            <a:avLst/>
          </a:prstGeom>
          <a:noFill/>
        </p:spPr>
        <p:txBody>
          <a:bodyPr wrap="square" lIns="0" rIns="0" tIns="0" bIns="0" anchor="t">
            <a:spAutoFit/>
          </a:bodyPr>
          <a:lstStyle/>
          <a:p>
            <a:pPr algn="l">
              <a:lnSpc>
                <a:spcPct val="135000"/>
              </a:lnSpc>
            </a:pPr>
            <a:r>
              <a:rPr sz="1200" b="0" i="0">
                <a:solidFill>
                  <a:srgbClr val="1A202C"/>
                </a:solidFill>
                <a:latin typeface="Calibri"/>
              </a:rPr>
              <a:t>We sit on top of these feeds as an interpretive layer; we are not a substitute.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727"/>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ASK &amp; 12-MONTH ROADMAP</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8E99A8"/>
                </a:solidFill>
                <a:latin typeface="Consolas"/>
              </a:rPr>
              <a:t>13 / 15</a:t>
            </a:r>
          </a:p>
        </p:txBody>
      </p:sp>
      <p:cxnSp>
        <p:nvCxnSpPr>
          <p:cNvPr id="5" name="Connector 4"/>
          <p:cNvCxnSpPr/>
          <p:nvPr/>
        </p:nvCxnSpPr>
        <p:spPr>
          <a:xfrm>
            <a:off x="548640" y="6400800"/>
            <a:ext cx="9509760" cy="0"/>
          </a:xfrm>
          <a:prstGeom prst="line">
            <a:avLst/>
          </a:prstGeom>
          <a:ln w="6350">
            <a:solidFill>
              <a:srgbClr val="2A354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3600" b="0" i="0">
                <a:solidFill>
                  <a:srgbClr val="FFFFFF"/>
                </a:solidFill>
                <a:latin typeface="Calibri Light"/>
              </a:rPr>
              <a:t>The Ask &amp; 12-Month Roadmap</a:t>
            </a:r>
          </a:p>
        </p:txBody>
      </p:sp>
      <p:sp>
        <p:nvSpPr>
          <p:cNvPr id="7" name="TextBox 6"/>
          <p:cNvSpPr txBox="1"/>
          <p:nvPr/>
        </p:nvSpPr>
        <p:spPr>
          <a:xfrm>
            <a:off x="640080" y="2148840"/>
            <a:ext cx="1828800" cy="411480"/>
          </a:xfrm>
          <a:prstGeom prst="rect">
            <a:avLst/>
          </a:prstGeom>
          <a:noFill/>
        </p:spPr>
        <p:txBody>
          <a:bodyPr wrap="square" lIns="0" rIns="0" tIns="0" bIns="0" anchor="t">
            <a:spAutoFit/>
          </a:bodyPr>
          <a:lstStyle/>
          <a:p>
            <a:pPr algn="l"/>
            <a:r>
              <a:rPr sz="1200" b="1" i="0">
                <a:solidFill>
                  <a:srgbClr val="C9A227"/>
                </a:solidFill>
                <a:latin typeface="Calibri"/>
              </a:rPr>
              <a:t>Headline:</a:t>
            </a:r>
          </a:p>
        </p:txBody>
      </p:sp>
      <p:cxnSp>
        <p:nvCxnSpPr>
          <p:cNvPr id="8" name="Connector 7"/>
          <p:cNvCxnSpPr/>
          <p:nvPr/>
        </p:nvCxnSpPr>
        <p:spPr>
          <a:xfrm>
            <a:off x="640080" y="2606040"/>
            <a:ext cx="1371600" cy="0"/>
          </a:xfrm>
          <a:prstGeom prst="line">
            <a:avLst/>
          </a:prstGeom>
          <a:ln w="38100">
            <a:solidFill>
              <a:srgbClr val="C9A22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2697480"/>
            <a:ext cx="10972800" cy="1371600"/>
          </a:xfrm>
          <a:prstGeom prst="rect">
            <a:avLst/>
          </a:prstGeom>
          <a:noFill/>
        </p:spPr>
        <p:txBody>
          <a:bodyPr wrap="square" lIns="0" rIns="0" tIns="0" bIns="0" anchor="t">
            <a:spAutoFit/>
          </a:bodyPr>
          <a:lstStyle/>
          <a:p>
            <a:pPr algn="l"/>
            <a:r>
              <a:rPr sz="7200" b="0" i="0">
                <a:solidFill>
                  <a:srgbClr val="FFFFFF"/>
                </a:solidFill>
                <a:latin typeface="Calibri Light"/>
              </a:rPr>
              <a:t>€300,000 Pre-Seed.</a:t>
            </a:r>
          </a:p>
        </p:txBody>
      </p:sp>
      <p:sp>
        <p:nvSpPr>
          <p:cNvPr id="10" name="TextBox 9"/>
          <p:cNvSpPr txBox="1"/>
          <p:nvPr/>
        </p:nvSpPr>
        <p:spPr>
          <a:xfrm>
            <a:off x="640080" y="4251960"/>
            <a:ext cx="1828800" cy="365760"/>
          </a:xfrm>
          <a:prstGeom prst="rect">
            <a:avLst/>
          </a:prstGeom>
          <a:noFill/>
        </p:spPr>
        <p:txBody>
          <a:bodyPr wrap="square" lIns="0" rIns="0" tIns="0" bIns="0" anchor="t">
            <a:spAutoFit/>
          </a:bodyPr>
          <a:lstStyle/>
          <a:p>
            <a:pPr algn="l"/>
            <a:r>
              <a:rPr sz="1200" b="1" i="0">
                <a:solidFill>
                  <a:srgbClr val="C9A227"/>
                </a:solidFill>
                <a:latin typeface="Calibri"/>
              </a:rPr>
              <a:t>Allocation:</a:t>
            </a:r>
          </a:p>
        </p:txBody>
      </p:sp>
      <p:sp>
        <p:nvSpPr>
          <p:cNvPr id="11" name="TextBox 10"/>
          <p:cNvSpPr txBox="1"/>
          <p:nvPr/>
        </p:nvSpPr>
        <p:spPr>
          <a:xfrm>
            <a:off x="1691640" y="4251960"/>
            <a:ext cx="10058400" cy="457200"/>
          </a:xfrm>
          <a:prstGeom prst="rect">
            <a:avLst/>
          </a:prstGeom>
          <a:noFill/>
        </p:spPr>
        <p:txBody>
          <a:bodyPr wrap="square" lIns="0" rIns="0" tIns="0" bIns="0" anchor="t">
            <a:spAutoFit/>
          </a:bodyPr>
          <a:lstStyle/>
          <a:p>
            <a:pPr algn="l">
              <a:lnSpc>
                <a:spcPct val="140000"/>
              </a:lnSpc>
            </a:pPr>
            <a:r>
              <a:rPr sz="1400" b="0" i="0">
                <a:solidFill>
                  <a:srgbClr val="FFFFFF"/>
                </a:solidFill>
                <a:latin typeface="Calibri"/>
              </a:rPr>
              <a:t>Engineering/Full-Stack hire, SLM infrastructure, and targeted GTM in London/Zürich hubs.</a:t>
            </a:r>
          </a:p>
        </p:txBody>
      </p:sp>
      <p:sp>
        <p:nvSpPr>
          <p:cNvPr id="12" name="TextBox 11"/>
          <p:cNvSpPr txBox="1"/>
          <p:nvPr/>
        </p:nvSpPr>
        <p:spPr>
          <a:xfrm>
            <a:off x="640080" y="5029200"/>
            <a:ext cx="3657600" cy="365760"/>
          </a:xfrm>
          <a:prstGeom prst="rect">
            <a:avLst/>
          </a:prstGeom>
          <a:noFill/>
        </p:spPr>
        <p:txBody>
          <a:bodyPr wrap="square" lIns="0" rIns="0" tIns="0" bIns="0" anchor="t">
            <a:spAutoFit/>
          </a:bodyPr>
          <a:lstStyle/>
          <a:p>
            <a:pPr algn="l"/>
            <a:r>
              <a:rPr sz="1200" b="1" i="0">
                <a:solidFill>
                  <a:srgbClr val="C9A227"/>
                </a:solidFill>
                <a:latin typeface="Calibri"/>
              </a:rPr>
              <a:t>12-Month Milestones:</a:t>
            </a:r>
          </a:p>
        </p:txBody>
      </p:sp>
      <p:sp>
        <p:nvSpPr>
          <p:cNvPr id="13" name="TextBox 12"/>
          <p:cNvSpPr txBox="1"/>
          <p:nvPr/>
        </p:nvSpPr>
        <p:spPr>
          <a:xfrm>
            <a:off x="640080" y="5440680"/>
            <a:ext cx="1371600" cy="320040"/>
          </a:xfrm>
          <a:prstGeom prst="rect">
            <a:avLst/>
          </a:prstGeom>
          <a:noFill/>
        </p:spPr>
        <p:txBody>
          <a:bodyPr wrap="square" lIns="0" rIns="0" tIns="0" bIns="0" anchor="t">
            <a:spAutoFit/>
          </a:bodyPr>
          <a:lstStyle/>
          <a:p>
            <a:pPr algn="l"/>
            <a:r>
              <a:rPr sz="1200" b="1" i="0">
                <a:solidFill>
                  <a:srgbClr val="C9A227"/>
                </a:solidFill>
                <a:latin typeface="Consolas"/>
              </a:rPr>
              <a:t>Q1/Q2:</a:t>
            </a:r>
          </a:p>
        </p:txBody>
      </p:sp>
      <p:sp>
        <p:nvSpPr>
          <p:cNvPr id="14" name="TextBox 13"/>
          <p:cNvSpPr txBox="1"/>
          <p:nvPr/>
        </p:nvSpPr>
        <p:spPr>
          <a:xfrm>
            <a:off x="1828800" y="5440680"/>
            <a:ext cx="9601200" cy="32004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Core infrastructure &amp; API launch.</a:t>
            </a:r>
          </a:p>
        </p:txBody>
      </p:sp>
      <p:sp>
        <p:nvSpPr>
          <p:cNvPr id="15" name="TextBox 14"/>
          <p:cNvSpPr txBox="1"/>
          <p:nvPr/>
        </p:nvSpPr>
        <p:spPr>
          <a:xfrm>
            <a:off x="640080" y="5806440"/>
            <a:ext cx="1371600" cy="320040"/>
          </a:xfrm>
          <a:prstGeom prst="rect">
            <a:avLst/>
          </a:prstGeom>
          <a:noFill/>
        </p:spPr>
        <p:txBody>
          <a:bodyPr wrap="square" lIns="0" rIns="0" tIns="0" bIns="0" anchor="t">
            <a:spAutoFit/>
          </a:bodyPr>
          <a:lstStyle/>
          <a:p>
            <a:pPr algn="l"/>
            <a:r>
              <a:rPr sz="1200" b="1" i="0">
                <a:solidFill>
                  <a:srgbClr val="C9A227"/>
                </a:solidFill>
                <a:latin typeface="Consolas"/>
              </a:rPr>
              <a:t>Q3:</a:t>
            </a:r>
          </a:p>
        </p:txBody>
      </p:sp>
      <p:sp>
        <p:nvSpPr>
          <p:cNvPr id="16" name="TextBox 15"/>
          <p:cNvSpPr txBox="1"/>
          <p:nvPr/>
        </p:nvSpPr>
        <p:spPr>
          <a:xfrm>
            <a:off x="1828800" y="5806440"/>
            <a:ext cx="9601200" cy="32004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Convert existing LOIs into paid commercial pilots.</a:t>
            </a:r>
          </a:p>
        </p:txBody>
      </p:sp>
      <p:sp>
        <p:nvSpPr>
          <p:cNvPr id="17" name="TextBox 16"/>
          <p:cNvSpPr txBox="1"/>
          <p:nvPr/>
        </p:nvSpPr>
        <p:spPr>
          <a:xfrm>
            <a:off x="640080" y="6172200"/>
            <a:ext cx="1371600" cy="320040"/>
          </a:xfrm>
          <a:prstGeom prst="rect">
            <a:avLst/>
          </a:prstGeom>
          <a:noFill/>
        </p:spPr>
        <p:txBody>
          <a:bodyPr wrap="square" lIns="0" rIns="0" tIns="0" bIns="0" anchor="t">
            <a:spAutoFit/>
          </a:bodyPr>
          <a:lstStyle/>
          <a:p>
            <a:pPr algn="l"/>
            <a:r>
              <a:rPr sz="1200" b="1" i="0">
                <a:solidFill>
                  <a:srgbClr val="C9A227"/>
                </a:solidFill>
                <a:latin typeface="Consolas"/>
              </a:rPr>
              <a:t>Q4:</a:t>
            </a:r>
          </a:p>
        </p:txBody>
      </p:sp>
      <p:sp>
        <p:nvSpPr>
          <p:cNvPr id="18" name="TextBox 17"/>
          <p:cNvSpPr txBox="1"/>
          <p:nvPr/>
        </p:nvSpPr>
        <p:spPr>
          <a:xfrm>
            <a:off x="1828800" y="6172200"/>
            <a:ext cx="9601200" cy="32004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Secure first €100k+ anchor enterprise client (First ARR).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THE TEAM</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6B7686"/>
                </a:solidFill>
                <a:latin typeface="Consolas"/>
              </a:rPr>
              <a:t>14 / 15</a:t>
            </a:r>
          </a:p>
        </p:txBody>
      </p:sp>
      <p:cxnSp>
        <p:nvCxnSpPr>
          <p:cNvPr id="5" name="Connector 4"/>
          <p:cNvCxnSpPr/>
          <p:nvPr/>
        </p:nvCxnSpPr>
        <p:spPr>
          <a:xfrm>
            <a:off x="548640" y="6400800"/>
            <a:ext cx="9509760" cy="0"/>
          </a:xfrm>
          <a:prstGeom prst="line">
            <a:avLst/>
          </a:prstGeom>
          <a:ln w="6350">
            <a:solidFill>
              <a:srgbClr val="CFD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188720"/>
            <a:ext cx="10972800" cy="822960"/>
          </a:xfrm>
          <a:prstGeom prst="rect">
            <a:avLst/>
          </a:prstGeom>
          <a:noFill/>
        </p:spPr>
        <p:txBody>
          <a:bodyPr wrap="square" lIns="0" rIns="0" tIns="0" bIns="0" anchor="t">
            <a:spAutoFit/>
          </a:bodyPr>
          <a:lstStyle/>
          <a:p>
            <a:pPr algn="l"/>
            <a:r>
              <a:rPr sz="4400" b="0" i="0">
                <a:solidFill>
                  <a:srgbClr val="0C1727"/>
                </a:solidFill>
                <a:latin typeface="Calibri Light"/>
              </a:rPr>
              <a:t>The Team</a:t>
            </a:r>
          </a:p>
        </p:txBody>
      </p:sp>
      <p:sp>
        <p:nvSpPr>
          <p:cNvPr id="7" name="Oval 6"/>
          <p:cNvSpPr/>
          <p:nvPr/>
        </p:nvSpPr>
        <p:spPr>
          <a:xfrm>
            <a:off x="640080" y="2743200"/>
            <a:ext cx="822960" cy="822960"/>
          </a:xfrm>
          <a:prstGeom prst="ellipse">
            <a:avLst/>
          </a:prstGeom>
          <a:solidFill>
            <a:srgbClr val="0C1727"/>
          </a:solidFill>
          <a:ln w="19050">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800">
                <a:solidFill>
                  <a:srgbClr val="C9A227"/>
                </a:solidFill>
                <a:latin typeface="Calibri Light"/>
              </a:rPr>
              <a:t>O</a:t>
            </a:r>
          </a:p>
        </p:txBody>
      </p:sp>
      <p:sp>
        <p:nvSpPr>
          <p:cNvPr id="8" name="TextBox 7"/>
          <p:cNvSpPr txBox="1"/>
          <p:nvPr/>
        </p:nvSpPr>
        <p:spPr>
          <a:xfrm>
            <a:off x="1737360" y="2788920"/>
            <a:ext cx="4480559" cy="868680"/>
          </a:xfrm>
          <a:prstGeom prst="rect">
            <a:avLst/>
          </a:prstGeom>
          <a:noFill/>
        </p:spPr>
        <p:txBody>
          <a:bodyPr wrap="square" lIns="0" rIns="0" tIns="0" bIns="0" anchor="t">
            <a:spAutoFit/>
          </a:bodyPr>
          <a:lstStyle/>
          <a:p>
            <a:pPr algn="l">
              <a:lnSpc>
                <a:spcPct val="125000"/>
              </a:lnSpc>
            </a:pPr>
            <a:r>
              <a:rPr sz="1500" b="1" i="0">
                <a:solidFill>
                  <a:srgbClr val="0C1727"/>
                </a:solidFill>
                <a:latin typeface="Calibri"/>
              </a:rPr>
              <a:t>Orsolya Putz, PhD (CEO &amp; Scientific Lead):</a:t>
            </a:r>
          </a:p>
        </p:txBody>
      </p:sp>
      <p:sp>
        <p:nvSpPr>
          <p:cNvPr id="9" name="TextBox 8"/>
          <p:cNvSpPr txBox="1"/>
          <p:nvPr/>
        </p:nvSpPr>
        <p:spPr>
          <a:xfrm>
            <a:off x="640080" y="3886200"/>
            <a:ext cx="5440679" cy="2286000"/>
          </a:xfrm>
          <a:prstGeom prst="rect">
            <a:avLst/>
          </a:prstGeom>
          <a:noFill/>
        </p:spPr>
        <p:txBody>
          <a:bodyPr wrap="square" lIns="0" rIns="0" tIns="0" bIns="0" anchor="t">
            <a:spAutoFit/>
          </a:bodyPr>
          <a:lstStyle/>
          <a:p>
            <a:pPr algn="l">
              <a:lnSpc>
                <a:spcPct val="150000"/>
              </a:lnSpc>
            </a:pPr>
            <a:r>
              <a:rPr sz="1300" b="0" i="0">
                <a:solidFill>
                  <a:srgbClr val="333D4D"/>
                </a:solidFill>
                <a:latin typeface="Calibri"/>
              </a:rPr>
              <a:t>Cognitive Linguist, Cognitive Psychologist, Adjunct Professor at Department of Telecommunication and Artificial Intelligence, BME.</a:t>
            </a:r>
          </a:p>
        </p:txBody>
      </p:sp>
      <p:sp>
        <p:nvSpPr>
          <p:cNvPr id="10" name="Oval 9"/>
          <p:cNvSpPr/>
          <p:nvPr/>
        </p:nvSpPr>
        <p:spPr>
          <a:xfrm>
            <a:off x="6492240" y="2743200"/>
            <a:ext cx="822960" cy="822960"/>
          </a:xfrm>
          <a:prstGeom prst="ellipse">
            <a:avLst/>
          </a:prstGeom>
          <a:solidFill>
            <a:srgbClr val="0C1727"/>
          </a:solidFill>
          <a:ln w="19050">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800">
                <a:solidFill>
                  <a:srgbClr val="C9A227"/>
                </a:solidFill>
                <a:latin typeface="Calibri Light"/>
              </a:rPr>
              <a:t>Z</a:t>
            </a:r>
          </a:p>
        </p:txBody>
      </p:sp>
      <p:sp>
        <p:nvSpPr>
          <p:cNvPr id="11" name="TextBox 10"/>
          <p:cNvSpPr txBox="1"/>
          <p:nvPr/>
        </p:nvSpPr>
        <p:spPr>
          <a:xfrm>
            <a:off x="7589520" y="2788920"/>
            <a:ext cx="4480559" cy="868680"/>
          </a:xfrm>
          <a:prstGeom prst="rect">
            <a:avLst/>
          </a:prstGeom>
          <a:noFill/>
        </p:spPr>
        <p:txBody>
          <a:bodyPr wrap="square" lIns="0" rIns="0" tIns="0" bIns="0" anchor="t">
            <a:spAutoFit/>
          </a:bodyPr>
          <a:lstStyle/>
          <a:p>
            <a:pPr algn="l">
              <a:lnSpc>
                <a:spcPct val="125000"/>
              </a:lnSpc>
            </a:pPr>
            <a:r>
              <a:rPr sz="1500" b="1" i="0">
                <a:solidFill>
                  <a:srgbClr val="0C1727"/>
                </a:solidFill>
                <a:latin typeface="Calibri"/>
              </a:rPr>
              <a:t>Zoltán Varjú (CTO &amp; Commercial Lead):</a:t>
            </a:r>
          </a:p>
        </p:txBody>
      </p:sp>
      <p:sp>
        <p:nvSpPr>
          <p:cNvPr id="12" name="TextBox 11"/>
          <p:cNvSpPr txBox="1"/>
          <p:nvPr/>
        </p:nvSpPr>
        <p:spPr>
          <a:xfrm>
            <a:off x="6492240" y="3886200"/>
            <a:ext cx="5440679" cy="2286000"/>
          </a:xfrm>
          <a:prstGeom prst="rect">
            <a:avLst/>
          </a:prstGeom>
          <a:noFill/>
        </p:spPr>
        <p:txBody>
          <a:bodyPr wrap="square" lIns="0" rIns="0" tIns="0" bIns="0" anchor="t">
            <a:spAutoFit/>
          </a:bodyPr>
          <a:lstStyle/>
          <a:p>
            <a:pPr algn="l">
              <a:lnSpc>
                <a:spcPct val="150000"/>
              </a:lnSpc>
            </a:pPr>
            <a:r>
              <a:rPr sz="1300" b="0" i="0">
                <a:solidFill>
                  <a:srgbClr val="333D4D"/>
                </a:solidFill>
                <a:latin typeface="Calibri"/>
              </a:rPr>
              <a:t>NLP expert (20+ years in industry), exited founder (Complytron to SEON).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727"/>
        </a:solidFill>
        <a:effectLst/>
      </p:bgPr>
    </p:bg>
    <p:spTree>
      <p:nvGrpSpPr>
        <p:cNvPr id="1" name=""/>
        <p:cNvGrpSpPr/>
        <p:nvPr/>
      </p:nvGrpSpPr>
      <p:grpSpPr/>
      <p:cxnSp>
        <p:nvCxnSpPr>
          <p:cNvPr id="2" name="Connector 1"/>
          <p:cNvCxnSpPr/>
          <p:nvPr/>
        </p:nvCxnSpPr>
        <p:spPr>
          <a:xfrm>
            <a:off x="548640" y="640080"/>
            <a:ext cx="320040" cy="0"/>
          </a:xfrm>
          <a:prstGeom prst="line">
            <a:avLst/>
          </a:prstGeom>
          <a:ln w="28575">
            <a:solidFill>
              <a:srgbClr val="C9A2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60120" y="502920"/>
            <a:ext cx="8229600" cy="320040"/>
          </a:xfrm>
          <a:prstGeom prst="rect">
            <a:avLst/>
          </a:prstGeom>
          <a:noFill/>
        </p:spPr>
        <p:txBody>
          <a:bodyPr wrap="square" lIns="0" rIns="0" tIns="0" bIns="0" anchor="t">
            <a:spAutoFit/>
          </a:bodyPr>
          <a:lstStyle/>
          <a:p>
            <a:pPr algn="l"/>
            <a:r>
              <a:rPr sz="1000" b="1" i="0">
                <a:solidFill>
                  <a:srgbClr val="C9A227"/>
                </a:solidFill>
                <a:latin typeface="Calibri"/>
              </a:rPr>
              <a:t/>
            </a:r>
          </a:p>
        </p:txBody>
      </p:sp>
      <p:sp>
        <p:nvSpPr>
          <p:cNvPr id="4" name="TextBox 3"/>
          <p:cNvSpPr txBox="1"/>
          <p:nvPr/>
        </p:nvSpPr>
        <p:spPr>
          <a:xfrm>
            <a:off x="10698480" y="6400800"/>
            <a:ext cx="1280160" cy="274320"/>
          </a:xfrm>
          <a:prstGeom prst="rect">
            <a:avLst/>
          </a:prstGeom>
          <a:noFill/>
        </p:spPr>
        <p:txBody>
          <a:bodyPr wrap="square" lIns="0" rIns="0" tIns="0" bIns="0" anchor="t">
            <a:spAutoFit/>
          </a:bodyPr>
          <a:lstStyle/>
          <a:p>
            <a:pPr algn="r"/>
            <a:r>
              <a:rPr sz="900" b="0" i="0">
                <a:solidFill>
                  <a:srgbClr val="8E99A8"/>
                </a:solidFill>
                <a:latin typeface="Consolas"/>
              </a:rPr>
              <a:t>15 / 15</a:t>
            </a:r>
          </a:p>
        </p:txBody>
      </p:sp>
      <p:cxnSp>
        <p:nvCxnSpPr>
          <p:cNvPr id="5" name="Connector 4"/>
          <p:cNvCxnSpPr/>
          <p:nvPr/>
        </p:nvCxnSpPr>
        <p:spPr>
          <a:xfrm>
            <a:off x="548640" y="6400800"/>
            <a:ext cx="9509760" cy="0"/>
          </a:xfrm>
          <a:prstGeom prst="line">
            <a:avLst/>
          </a:prstGeom>
          <a:ln w="6350">
            <a:solidFill>
              <a:srgbClr val="2A354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 y="1828800"/>
            <a:ext cx="10972800" cy="4572000"/>
          </a:xfrm>
          <a:prstGeom prst="rect">
            <a:avLst/>
          </a:prstGeom>
          <a:noFill/>
        </p:spPr>
        <p:txBody>
          <a:bodyPr wrap="square" lIns="0" rIns="0" tIns="0" bIns="0" anchor="t">
            <a:spAutoFit/>
          </a:bodyPr>
          <a:lstStyle/>
          <a:p>
            <a:pPr algn="l">
              <a:lnSpc>
                <a:spcPct val="120000"/>
              </a:lnSpc>
              <a:spcAft>
                <a:spcPts val="400"/>
              </a:spcAft>
            </a:pPr>
            <a:r>
              <a:rPr sz="1400" b="1" i="0">
                <a:solidFill>
                  <a:srgbClr val="C9A227"/>
                </a:solidFill>
                <a:latin typeface="Calibri"/>
              </a:rPr>
              <a:t>The Narrative (The Market Output):</a:t>
            </a:r>
          </a:p>
          <a:p>
            <a:pPr algn="l">
              <a:lnSpc>
                <a:spcPct val="120000"/>
              </a:lnSpc>
              <a:spcAft>
                <a:spcPts val="2600"/>
              </a:spcAft>
            </a:pPr>
            <a:r>
              <a:rPr sz="2600" b="0" i="0">
                <a:solidFill>
                  <a:srgbClr val="FFFFFF"/>
                </a:solidFill>
                <a:latin typeface="Calibri Light"/>
              </a:rPr>
              <a:t>The story the market hears.</a:t>
            </a:r>
          </a:p>
          <a:p>
            <a:pPr algn="l">
              <a:lnSpc>
                <a:spcPct val="120000"/>
              </a:lnSpc>
              <a:spcAft>
                <a:spcPts val="400"/>
              </a:spcAft>
            </a:pPr>
            <a:r>
              <a:rPr sz="1400" b="1" i="0">
                <a:solidFill>
                  <a:srgbClr val="C9A227"/>
                </a:solidFill>
                <a:latin typeface="Calibri"/>
              </a:rPr>
              <a:t>The System of Reasoning (The Internal Logic):</a:t>
            </a:r>
          </a:p>
          <a:p>
            <a:pPr algn="l">
              <a:lnSpc>
                <a:spcPct val="120000"/>
              </a:lnSpc>
              <a:spcAft>
                <a:spcPts val="2600"/>
              </a:spcAft>
            </a:pPr>
            <a:r>
              <a:rPr sz="2600" b="0" i="0">
                <a:solidFill>
                  <a:srgbClr val="FFFFFF"/>
                </a:solidFill>
                <a:latin typeface="Calibri Light"/>
              </a:rPr>
              <a:t>How the governor actually thinks.</a:t>
            </a:r>
          </a:p>
          <a:p>
            <a:pPr algn="l">
              <a:lnSpc>
                <a:spcPct val="120000"/>
              </a:lnSpc>
              <a:spcAft>
                <a:spcPts val="400"/>
              </a:spcAft>
            </a:pPr>
            <a:r>
              <a:rPr sz="1400" b="1" i="0">
                <a:solidFill>
                  <a:srgbClr val="C9A227"/>
                </a:solidFill>
                <a:latin typeface="Calibri"/>
              </a:rPr>
              <a:t>The Cognitive Fingerprint (Your Data Product):</a:t>
            </a:r>
          </a:p>
          <a:p>
            <a:pPr algn="l">
              <a:lnSpc>
                <a:spcPct val="120000"/>
              </a:lnSpc>
            </a:pPr>
            <a:r>
              <a:rPr sz="2600" b="0" i="0">
                <a:solidFill>
                  <a:srgbClr val="FFFFFF"/>
                </a:solidFill>
                <a:latin typeface="Calibri Light"/>
              </a:rPr>
              <a:t>The 5D visual data signature your dashboard creates to measure that reasoning.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